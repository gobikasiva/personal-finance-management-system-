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removePersonalInfoOnSave="1" saveSubsetFonts="1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type="screen16x9" cy="5143500" cx="9144000"/>
  <p:notesSz cx="6797675" cy="9926638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  <p:clrMru>
    <a:srgbClr val="33CCFF"/>
    <a:srgbClr val="A9ACEF"/>
    <a:srgbClr val="0000CC"/>
    <a:srgbClr val="A50021"/>
    <a:srgbClr val="663300"/>
    <a:srgbClr val="000066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>
          <a:srgbClr val="00000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8130" autoAdjust="0"/>
    <p:restoredTop sz="87621" autoAdjust="0"/>
  </p:normalViewPr>
  <p:slideViewPr>
    <p:cSldViewPr>
      <p:cViewPr>
        <p:scale>
          <a:sx n="110" d="100"/>
          <a:sy n="110" d="100"/>
        </p:scale>
        <p:origin x="-542" y="-5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tableStyles" Target="tableStyles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/Relationships>
</file>

<file path=ppt/handoutMasters/_rels/handout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0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/>
        </p:spPr>
        <p:txBody>
          <a:bodyPr bIns="47786" lIns="95571" rIns="95571" rtlCol="0" tIns="47786" vert="horz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048721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/>
        </p:spPr>
        <p:txBody>
          <a:bodyPr bIns="47786" lIns="95571" rIns="95571" rtlCol="0" tIns="47786" vert="horz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fld id="{14FDCBBC-8C6D-4B91-8E0F-7F7539A60517}" type="datetimeFigureOut">
              <a:rPr lang="en-US"/>
              <a:t>5/24/2025</a:t>
            </a:fld>
            <a:endParaRPr dirty="0" lang="en-US"/>
          </a:p>
        </p:txBody>
      </p:sp>
      <p:sp>
        <p:nvSpPr>
          <p:cNvPr id="1048722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5300"/>
          </a:xfrm>
          <a:prstGeom prst="rect"/>
        </p:spPr>
        <p:txBody>
          <a:bodyPr anchor="b" bIns="47786" lIns="95571" rIns="95571" rtlCol="0" tIns="47786" vert="horz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048723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5300"/>
          </a:xfrm>
          <a:prstGeom prst="rect"/>
        </p:spPr>
        <p:txBody>
          <a:bodyPr anchor="b" anchorCtr="0" bIns="47786" compatLnSpc="1" lIns="95571" numCol="1" rIns="95571" tIns="47786" vert="horz" wrap="square">
            <a:prstTxWarp prst="textNoShape"/>
          </a:bodyPr>
          <a:lstStyle>
            <a:lvl1pPr algn="r" eaLnBrk="1" hangingPunct="1">
              <a:defRPr sz="1300" smtClean="0">
                <a:latin typeface="Calibri" pitchFamily="34" charset="0"/>
              </a:defRPr>
            </a:lvl1pPr>
          </a:lstStyle>
          <a:p>
            <a:fld id="{2952E2ED-3A02-491C-A9B8-DFEE216EB3A7}" type="slidenum">
              <a:rPr altLang="en-US" lang="en-US"/>
              <a:t>‹#›</a:t>
            </a:fld>
            <a:endParaRPr altLang="en-US"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hf dt="0" ftr="0" hdr="0" sldNum="1"/>
</p:handoutMaster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/>
        </p:spPr>
        <p:txBody>
          <a:bodyPr bIns="47786" lIns="95571" rIns="95571" rtlCol="0" tIns="47786" vert="horz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048715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/>
        </p:spPr>
        <p:txBody>
          <a:bodyPr bIns="47786" lIns="95571" rIns="95571" rtlCol="0" tIns="47786" vert="horz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fld id="{061F6FC2-9645-479A-A309-27B8F5654211}" type="datetimeFigureOut">
              <a:rPr lang="en-US"/>
              <a:t>5/24/2025</a:t>
            </a:fld>
            <a:endParaRPr dirty="0" lang="en-US"/>
          </a:p>
        </p:txBody>
      </p:sp>
      <p:sp>
        <p:nvSpPr>
          <p:cNvPr id="1048716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92075" y="746125"/>
            <a:ext cx="6613525" cy="37211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7786" lIns="95571" rIns="95571" rtlCol="0" tIns="47786" vert="horz"/>
          <a:p>
            <a:pPr lvl="0"/>
            <a:endParaRPr dirty="0" lang="en-US" noProof="0"/>
          </a:p>
        </p:txBody>
      </p:sp>
      <p:sp>
        <p:nvSpPr>
          <p:cNvPr id="104871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5638"/>
          </a:xfrm>
          <a:prstGeom prst="rect"/>
        </p:spPr>
        <p:txBody>
          <a:bodyPr bIns="47786" lIns="95571" rIns="95571" rtlCol="0" tIns="47786" vert="horz">
            <a:normAutofit/>
          </a:bodyPr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48718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5300"/>
          </a:xfrm>
          <a:prstGeom prst="rect"/>
        </p:spPr>
        <p:txBody>
          <a:bodyPr anchor="b" bIns="47786" lIns="95571" rIns="95571" rtlCol="0" tIns="47786" vert="horz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048719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5300"/>
          </a:xfrm>
          <a:prstGeom prst="rect"/>
        </p:spPr>
        <p:txBody>
          <a:bodyPr anchor="b" anchorCtr="0" bIns="47786" compatLnSpc="1" lIns="95571" numCol="1" rIns="95571" tIns="47786" vert="horz" wrap="square">
            <a:prstTxWarp prst="textNoShape"/>
          </a:bodyPr>
          <a:lstStyle>
            <a:lvl1pPr algn="r" eaLnBrk="1" hangingPunct="1">
              <a:defRPr sz="1300" smtClean="0">
                <a:latin typeface="Calibri" pitchFamily="34" charset="0"/>
              </a:defRPr>
            </a:lvl1pPr>
          </a:lstStyle>
          <a:p>
            <a:fld id="{F2D8CC3F-ADB2-4AF7-880C-111F7E6C7FE6}" type="slidenum">
              <a:rPr altLang="en-US" lang="en-US"/>
              <a:t>‹#›</a:t>
            </a:fld>
            <a:endParaRPr altLang="en-US"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hf dt="0" ftr="0" hdr="0" sldNum="1"/>
  <p:notesStyle>
    <a:lvl1pPr algn="l" eaLnBrk="0" fontAlgn="base" hangingPunct="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eaLnBrk="0" fontAlgn="base" hangingPunct="0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eaLnBrk="0" fontAlgn="base" hangingPunct="0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eaLnBrk="0" fontAlgn="base" hangingPunct="0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eaLnBrk="0" fontAlgn="base" hangingPunct="0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Title 7"/>
          <p:cNvSpPr>
            <a:spLocks noGrp="1"/>
          </p:cNvSpPr>
          <p:nvPr>
            <p:ph type="ctrTitle"/>
          </p:nvPr>
        </p:nvSpPr>
        <p:spPr>
          <a:xfrm>
            <a:off x="1219200" y="2914650"/>
            <a:ext cx="6858000" cy="74295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048655" name="Subtitle 8"/>
          <p:cNvSpPr>
            <a:spLocks noGrp="1"/>
          </p:cNvSpPr>
          <p:nvPr>
            <p:ph type="subTitle" idx="1"/>
          </p:nvPr>
        </p:nvSpPr>
        <p:spPr>
          <a:xfrm>
            <a:off x="1219200" y="3843338"/>
            <a:ext cx="6858000" cy="400050"/>
          </a:xfrm>
        </p:spPr>
        <p:txBody>
          <a:bodyPr/>
          <a:lstStyle>
            <a:lvl1pPr algn="r" indent="0" marL="0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indent="0" marL="457200">
              <a:buNone/>
            </a:lvl2pPr>
            <a:lvl3pPr algn="ctr" indent="0" marL="914400">
              <a:buNone/>
            </a:lvl3pPr>
            <a:lvl4pPr algn="ctr" indent="0" marL="1371600">
              <a:buNone/>
            </a:lvl4pPr>
            <a:lvl5pPr algn="ctr" indent="0" marL="1828800">
              <a:buNone/>
            </a:lvl5pPr>
            <a:lvl6pPr algn="ctr" indent="0" marL="2286000">
              <a:buNone/>
            </a:lvl6pPr>
            <a:lvl7pPr algn="ctr" indent="0" marL="2743200">
              <a:buNone/>
            </a:lvl7pPr>
            <a:lvl8pPr algn="ctr" indent="0" marL="3200400">
              <a:buNone/>
            </a:lvl8pPr>
            <a:lvl9pPr algn="ctr" indent="0" marL="3657600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1048656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4766310"/>
            <a:ext cx="2286000" cy="274320"/>
          </a:xfrm>
        </p:spPr>
        <p:txBody>
          <a:bodyPr/>
          <a:lstStyle>
            <a:lvl1pPr>
              <a:defRPr sz="1400"/>
            </a:lvl1pPr>
          </a:lstStyle>
          <a:p>
            <a:fld id="{5DB7D52D-565F-41B8-8A38-351E75B6160A}" type="datetime3">
              <a:rPr lang="en-US" smtClean="0"/>
              <a:t>24 May 2025</a:t>
            </a:fld>
            <a:endParaRPr dirty="0" lang="en-US"/>
          </a:p>
        </p:txBody>
      </p:sp>
      <p:sp>
        <p:nvSpPr>
          <p:cNvPr id="104865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4766310"/>
            <a:ext cx="3474720" cy="274320"/>
          </a:xfrm>
        </p:spPr>
        <p:txBody>
          <a:bodyPr/>
          <a:p>
            <a:r>
              <a:rPr lang="en-US"/>
              <a:t>CGB1121 – PYTHON PROGRAMMING –PROJECT REVIEW 1</a:t>
            </a:r>
            <a:endParaRPr dirty="0" lang="en-US"/>
          </a:p>
        </p:txBody>
      </p:sp>
      <p:sp>
        <p:nvSpPr>
          <p:cNvPr id="1048658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4766310"/>
            <a:ext cx="1219200" cy="274320"/>
          </a:xfrm>
        </p:spPr>
        <p:txBody>
          <a:bodyPr/>
          <a:p>
            <a:fld id="{C0A8E10E-36D1-42AB-939C-34BEB33CD9E4}" type="slidenum">
              <a:rPr altLang="en-US" lang="en-US" smtClean="0"/>
              <a:t>‹#›</a:t>
            </a:fld>
            <a:endParaRPr altLang="en-US" lang="en-US"/>
          </a:p>
        </p:txBody>
      </p:sp>
      <p:sp>
        <p:nvSpPr>
          <p:cNvPr id="1048659" name="Rectangle 20"/>
          <p:cNvSpPr/>
          <p:nvPr/>
        </p:nvSpPr>
        <p:spPr>
          <a:xfrm>
            <a:off x="904875" y="2736056"/>
            <a:ext cx="7315200" cy="960120"/>
          </a:xfrm>
          <a:prstGeom prst="rect"/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hangingPunct="1" latinLnBrk="0"/>
            <a:endParaRPr kumimoji="0" lang="en-US"/>
          </a:p>
        </p:txBody>
      </p:sp>
      <p:sp>
        <p:nvSpPr>
          <p:cNvPr id="1048660" name="Rectangle 32"/>
          <p:cNvSpPr/>
          <p:nvPr/>
        </p:nvSpPr>
        <p:spPr>
          <a:xfrm>
            <a:off x="914400" y="3786188"/>
            <a:ext cx="7315200" cy="514350"/>
          </a:xfrm>
          <a:prstGeom prst="rect"/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hangingPunct="1" latinLnBrk="0"/>
            <a:endParaRPr kumimoji="0" lang="en-US"/>
          </a:p>
        </p:txBody>
      </p:sp>
      <p:sp>
        <p:nvSpPr>
          <p:cNvPr id="1048661" name="Rectangle 21"/>
          <p:cNvSpPr/>
          <p:nvPr/>
        </p:nvSpPr>
        <p:spPr>
          <a:xfrm>
            <a:off x="904875" y="2736056"/>
            <a:ext cx="228600" cy="960120"/>
          </a:xfrm>
          <a:prstGeom prst="rect"/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hangingPunct="1" latinLnBrk="0"/>
            <a:endParaRPr kumimoji="0" lang="en-US"/>
          </a:p>
        </p:txBody>
      </p:sp>
      <p:sp>
        <p:nvSpPr>
          <p:cNvPr id="1048662" name="Rectangle 31"/>
          <p:cNvSpPr/>
          <p:nvPr/>
        </p:nvSpPr>
        <p:spPr>
          <a:xfrm>
            <a:off x="914400" y="3786188"/>
            <a:ext cx="228600" cy="514350"/>
          </a:xfrm>
          <a:prstGeom prst="rect"/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hangingPunct="1" latinLnBrk="0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kumimoji="0" lang="en-US"/>
              <a:t>Click to edit Master title style</a:t>
            </a:r>
          </a:p>
        </p:txBody>
      </p:sp>
      <p:sp>
        <p:nvSpPr>
          <p:cNvPr id="104858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0D64E2F-69CC-44E6-A292-0ACA122D21DC}" type="datetime3">
              <a:rPr lang="en-US" smtClean="0"/>
              <a:t>24 May 2025</a:t>
            </a:fld>
            <a:endParaRPr dirty="0" lang="en-US"/>
          </a:p>
        </p:txBody>
      </p:sp>
      <p:sp>
        <p:nvSpPr>
          <p:cNvPr id="104858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CGB1121 – PYTHON PROGRAMMING –PROJECT REVIEW 1</a:t>
            </a:r>
            <a:endParaRPr dirty="0" lang="en-US"/>
          </a:p>
        </p:txBody>
      </p:sp>
      <p:sp>
        <p:nvSpPr>
          <p:cNvPr id="104858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E14ABD8-B1EB-4C07-9937-C8C4E38BDF00}" type="slidenum">
              <a:rPr altLang="en-US" lang="en-US" smtClean="0"/>
              <a:t>‹#›</a:t>
            </a:fld>
            <a:endParaRPr altLang="en-US" lang="en-US"/>
          </a:p>
        </p:txBody>
      </p:sp>
      <p:sp>
        <p:nvSpPr>
          <p:cNvPr id="104858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914400"/>
            <a:ext cx="8229600" cy="3703320"/>
          </a:xfrm>
        </p:spPr>
        <p:txBody>
          <a:bodyPr/>
          <a:p>
            <a:pPr eaLnBrk="1" hangingPunct="1" latinLnBrk="0" lvl="0"/>
            <a:r>
              <a:rPr lang="en-US"/>
              <a:t>Click to edit Master text styles</a:t>
            </a:r>
          </a:p>
          <a:p>
            <a:pPr eaLnBrk="1" hangingPunct="1" latinLnBrk="0" lvl="1"/>
            <a:r>
              <a:rPr lang="en-US"/>
              <a:t>Second level</a:t>
            </a:r>
          </a:p>
          <a:p>
            <a:pPr eaLnBrk="1" hangingPunct="1" latinLnBrk="0" lvl="2"/>
            <a:r>
              <a:rPr lang="en-US"/>
              <a:t>Third level</a:t>
            </a:r>
          </a:p>
          <a:p>
            <a:pPr eaLnBrk="1" hangingPunct="1" latinLnBrk="0" lvl="3"/>
            <a:r>
              <a:rPr lang="en-US"/>
              <a:t>Fourth level</a:t>
            </a:r>
          </a:p>
          <a:p>
            <a:pPr eaLnBrk="1" hangingPunct="1" latinLnBrk="0" lvl="4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5" name="Title 1"/>
          <p:cNvSpPr>
            <a:spLocks noGrp="1"/>
          </p:cNvSpPr>
          <p:nvPr>
            <p:ph type="title"/>
          </p:nvPr>
        </p:nvSpPr>
        <p:spPr>
          <a:xfrm>
            <a:off x="1219200" y="2228850"/>
            <a:ext cx="6858000" cy="800100"/>
          </a:xfrm>
        </p:spPr>
        <p:txBody>
          <a:bodyPr anchor="t" anchorCtr="0"/>
          <a:lstStyle>
            <a:lvl1pPr algn="r">
              <a:buNone/>
              <a:defRPr baseline="0" b="0" cap="none" sz="320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048686" name="Text Placeholder 2"/>
          <p:cNvSpPr>
            <a:spLocks noGrp="1"/>
          </p:cNvSpPr>
          <p:nvPr>
            <p:ph type="body" idx="1"/>
          </p:nvPr>
        </p:nvSpPr>
        <p:spPr>
          <a:xfrm>
            <a:off x="1295400" y="3200400"/>
            <a:ext cx="6781800" cy="857250"/>
          </a:xfrm>
        </p:spPr>
        <p:txBody>
          <a:bodyPr anchor="t" anchorCtr="0"/>
          <a:lstStyle>
            <a:lvl1pPr algn="r"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eaLnBrk="1" hangingPunct="1" latinLnBrk="0" lvl="0"/>
            <a:r>
              <a:rPr kumimoji="0" lang="en-US"/>
              <a:t>Click to edit Master text styles</a:t>
            </a:r>
          </a:p>
        </p:txBody>
      </p:sp>
      <p:sp>
        <p:nvSpPr>
          <p:cNvPr id="1048687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4766310"/>
            <a:ext cx="2286000" cy="274320"/>
          </a:xfrm>
        </p:spPr>
        <p:txBody>
          <a:bodyPr/>
          <a:p>
            <a:fld id="{66706815-C846-4605-9618-3F6E6CA90352}" type="datetime3">
              <a:rPr lang="en-US" smtClean="0"/>
              <a:t>24 May 2025</a:t>
            </a:fld>
            <a:endParaRPr dirty="0" lang="en-US"/>
          </a:p>
        </p:txBody>
      </p:sp>
      <p:sp>
        <p:nvSpPr>
          <p:cNvPr id="104868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4766310"/>
            <a:ext cx="3474720" cy="274320"/>
          </a:xfrm>
        </p:spPr>
        <p:txBody>
          <a:bodyPr/>
          <a:p>
            <a:r>
              <a:rPr lang="en-US"/>
              <a:t>CGB1121 – PYTHON PROGRAMMING –PROJECT REVIEW 1</a:t>
            </a:r>
            <a:endParaRPr dirty="0" lang="en-US"/>
          </a:p>
        </p:txBody>
      </p:sp>
      <p:sp>
        <p:nvSpPr>
          <p:cNvPr id="104868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4766310"/>
            <a:ext cx="1520952" cy="274320"/>
          </a:xfrm>
        </p:spPr>
        <p:txBody>
          <a:bodyPr/>
          <a:p>
            <a:fld id="{BEE0AD74-942B-45F6-8EEE-203197083F56}" type="slidenum">
              <a:rPr altLang="en-US" lang="en-US" smtClean="0"/>
              <a:t>‹#›</a:t>
            </a:fld>
            <a:endParaRPr altLang="en-US" lang="en-US"/>
          </a:p>
        </p:txBody>
      </p:sp>
      <p:sp>
        <p:nvSpPr>
          <p:cNvPr id="1048690" name="Rectangle 6"/>
          <p:cNvSpPr/>
          <p:nvPr/>
        </p:nvSpPr>
        <p:spPr>
          <a:xfrm>
            <a:off x="914400" y="2114550"/>
            <a:ext cx="7315200" cy="960120"/>
          </a:xfrm>
          <a:prstGeom prst="rect"/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hangingPunct="1" latinLnBrk="0"/>
            <a:endParaRPr kumimoji="0" lang="en-US"/>
          </a:p>
        </p:txBody>
      </p:sp>
      <p:sp>
        <p:nvSpPr>
          <p:cNvPr id="1048691" name="Rectangle 7"/>
          <p:cNvSpPr/>
          <p:nvPr/>
        </p:nvSpPr>
        <p:spPr>
          <a:xfrm>
            <a:off x="914400" y="2114550"/>
            <a:ext cx="228600" cy="960120"/>
          </a:xfrm>
          <a:prstGeom prst="rect"/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hangingPunct="1" latinLnBrk="0"/>
            <a:endParaRPr kumimoji="0" lang="en-US"/>
          </a:p>
        </p:txBody>
      </p:sp>
    </p:spTree>
  </p:cSld>
  <p:clrMapOvr>
    <a:overrideClrMapping accent1="accent1" accent2="accent2" accent3="accent3" accent4="accent4" accent5="accent5" accent6="accent6" bg1="dk1" bg2="dk2" tx1="lt1" tx2="lt2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Title 1"/>
          <p:cNvSpPr>
            <a:spLocks noGrp="1"/>
          </p:cNvSpPr>
          <p:nvPr>
            <p:ph type="title"/>
          </p:nvPr>
        </p:nvSpPr>
        <p:spPr>
          <a:xfrm>
            <a:off x="457200" y="171450"/>
            <a:ext cx="8229600" cy="685800"/>
          </a:xfrm>
        </p:spPr>
        <p:txBody>
          <a:bodyPr/>
          <a:p>
            <a:r>
              <a:rPr kumimoji="0" lang="en-US"/>
              <a:t>Click to edit Master title style</a:t>
            </a:r>
          </a:p>
        </p:txBody>
      </p:sp>
      <p:sp>
        <p:nvSpPr>
          <p:cNvPr id="104859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1AAA5BA-07A5-4870-B550-A63AA413A813}" type="datetime3">
              <a:rPr lang="en-US" smtClean="0"/>
              <a:t>24 May 2025</a:t>
            </a:fld>
            <a:endParaRPr dirty="0" lang="en-US"/>
          </a:p>
        </p:txBody>
      </p:sp>
      <p:sp>
        <p:nvSpPr>
          <p:cNvPr id="104860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CGB1121 – PYTHON PROGRAMMING –PROJECT REVIEW 1</a:t>
            </a:r>
            <a:endParaRPr dirty="0" lang="en-US"/>
          </a:p>
        </p:txBody>
      </p:sp>
      <p:sp>
        <p:nvSpPr>
          <p:cNvPr id="104860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B554FDC-F986-4516-81A3-5CBC9634E9C1}" type="slidenum">
              <a:rPr altLang="en-US" lang="en-US" smtClean="0"/>
              <a:t>‹#›</a:t>
            </a:fld>
            <a:endParaRPr altLang="en-US" lang="en-US"/>
          </a:p>
        </p:txBody>
      </p:sp>
      <p:sp>
        <p:nvSpPr>
          <p:cNvPr id="1048602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914400"/>
            <a:ext cx="4041648" cy="3703320"/>
          </a:xfrm>
        </p:spPr>
        <p:txBody>
          <a:bodyPr/>
          <a:p>
            <a:pPr eaLnBrk="1" hangingPunct="1" latinLnBrk="0" lvl="0"/>
            <a:r>
              <a:rPr lang="en-US"/>
              <a:t>Click to edit Master text styles</a:t>
            </a:r>
          </a:p>
          <a:p>
            <a:pPr eaLnBrk="1" hangingPunct="1" latinLnBrk="0" lvl="1"/>
            <a:r>
              <a:rPr lang="en-US"/>
              <a:t>Second level</a:t>
            </a:r>
          </a:p>
          <a:p>
            <a:pPr eaLnBrk="1" hangingPunct="1" latinLnBrk="0" lvl="2"/>
            <a:r>
              <a:rPr lang="en-US"/>
              <a:t>Third level</a:t>
            </a:r>
          </a:p>
          <a:p>
            <a:pPr eaLnBrk="1" hangingPunct="1" latinLnBrk="0" lvl="3"/>
            <a:r>
              <a:rPr lang="en-US"/>
              <a:t>Fourth level</a:t>
            </a:r>
          </a:p>
          <a:p>
            <a:pPr eaLnBrk="1" hangingPunct="1" latinLnBrk="0" lvl="4"/>
            <a:r>
              <a:rPr lang="en-US"/>
              <a:t>Fifth level</a:t>
            </a:r>
            <a:endParaRPr kumimoji="0" lang="en-US"/>
          </a:p>
        </p:txBody>
      </p:sp>
      <p:sp>
        <p:nvSpPr>
          <p:cNvPr id="1048603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912114"/>
            <a:ext cx="4041648" cy="3703320"/>
          </a:xfrm>
        </p:spPr>
        <p:txBody>
          <a:bodyPr/>
          <a:p>
            <a:pPr eaLnBrk="1" hangingPunct="1" latinLnBrk="0" lvl="0"/>
            <a:r>
              <a:rPr lang="en-US"/>
              <a:t>Click to edit Master text styles</a:t>
            </a:r>
          </a:p>
          <a:p>
            <a:pPr eaLnBrk="1" hangingPunct="1" latinLnBrk="0" lvl="1"/>
            <a:r>
              <a:rPr lang="en-US"/>
              <a:t>Second level</a:t>
            </a:r>
          </a:p>
          <a:p>
            <a:pPr eaLnBrk="1" hangingPunct="1" latinLnBrk="0" lvl="2"/>
            <a:r>
              <a:rPr lang="en-US"/>
              <a:t>Third level</a:t>
            </a:r>
          </a:p>
          <a:p>
            <a:pPr eaLnBrk="1" hangingPunct="1" latinLnBrk="0" lvl="3"/>
            <a:r>
              <a:rPr lang="en-US"/>
              <a:t>Fourth level</a:t>
            </a:r>
          </a:p>
          <a:p>
            <a:pPr eaLnBrk="1" hangingPunct="1" latinLnBrk="0" lvl="4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2" name="Title 1"/>
          <p:cNvSpPr>
            <a:spLocks noGrp="1"/>
          </p:cNvSpPr>
          <p:nvPr>
            <p:ph type="title"/>
          </p:nvPr>
        </p:nvSpPr>
        <p:spPr>
          <a:xfrm>
            <a:off x="457200" y="171450"/>
            <a:ext cx="8229600" cy="685800"/>
          </a:xfrm>
        </p:spPr>
        <p:txBody>
          <a:bodyPr anchor="ctr"/>
          <a:p>
            <a:r>
              <a:rPr kumimoji="0" lang="en-US"/>
              <a:t>Click to edit Master title style</a:t>
            </a:r>
          </a:p>
        </p:txBody>
      </p:sp>
      <p:sp>
        <p:nvSpPr>
          <p:cNvPr id="1048693" name="Text Placeholder 2"/>
          <p:cNvSpPr>
            <a:spLocks noGrp="1"/>
          </p:cNvSpPr>
          <p:nvPr>
            <p:ph type="body" idx="1"/>
          </p:nvPr>
        </p:nvSpPr>
        <p:spPr>
          <a:xfrm>
            <a:off x="457200" y="964406"/>
            <a:ext cx="4040188" cy="514350"/>
          </a:xfrm>
          <a:noFill/>
          <a:ln>
            <a:noFill/>
          </a:ln>
        </p:spPr>
        <p:txBody>
          <a:bodyPr anchor="b" anchorCtr="0" lIns="91440">
            <a:noAutofit/>
          </a:bodyPr>
          <a:lstStyle>
            <a:lvl1pPr indent="0" marL="0">
              <a:buNone/>
              <a:defRPr b="1" sz="2400">
                <a:solidFill>
                  <a:schemeClr val="accent2"/>
                </a:solidFill>
              </a:defRPr>
            </a:lvl1pPr>
            <a:lvl2pPr>
              <a:buNone/>
              <a:defRPr b="1" sz="2000"/>
            </a:lvl2pPr>
            <a:lvl3pPr>
              <a:buNone/>
              <a:defRPr b="1" sz="1800"/>
            </a:lvl3pPr>
            <a:lvl4pPr>
              <a:buNone/>
              <a:defRPr b="1" sz="1600"/>
            </a:lvl4pPr>
            <a:lvl5pPr>
              <a:buNone/>
              <a:defRPr b="1" sz="1600"/>
            </a:lvl5pPr>
          </a:lstStyle>
          <a:p>
            <a:pPr eaLnBrk="1" hangingPunct="1" latinLnBrk="0" lvl="0"/>
            <a:r>
              <a:rPr kumimoji="0" lang="en-US"/>
              <a:t>Click to edit Master text styles</a:t>
            </a:r>
          </a:p>
        </p:txBody>
      </p:sp>
      <p:sp>
        <p:nvSpPr>
          <p:cNvPr id="104869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1" y="971550"/>
            <a:ext cx="4041775" cy="514350"/>
          </a:xfrm>
          <a:noFill/>
          <a:ln>
            <a:noFill/>
          </a:ln>
        </p:spPr>
        <p:txBody>
          <a:bodyPr anchor="b" anchorCtr="0" lIns="91440"/>
          <a:lstStyle>
            <a:lvl1pPr indent="0" marL="0">
              <a:buNone/>
              <a:defRPr b="1" sz="2400">
                <a:solidFill>
                  <a:schemeClr val="accent2"/>
                </a:solidFill>
              </a:defRPr>
            </a:lvl1pPr>
            <a:lvl2pPr>
              <a:buNone/>
              <a:defRPr b="1" sz="2000"/>
            </a:lvl2pPr>
            <a:lvl3pPr>
              <a:buNone/>
              <a:defRPr b="1" sz="1800"/>
            </a:lvl3pPr>
            <a:lvl4pPr>
              <a:buNone/>
              <a:defRPr b="1" sz="1600"/>
            </a:lvl4pPr>
            <a:lvl5pPr>
              <a:buNone/>
              <a:defRPr b="1" sz="1600"/>
            </a:lvl5pPr>
          </a:lstStyle>
          <a:p>
            <a:pPr eaLnBrk="1" hangingPunct="1" latinLnBrk="0" lvl="0"/>
            <a:r>
              <a:rPr kumimoji="0" lang="en-US"/>
              <a:t>Click to edit Master text styles</a:t>
            </a:r>
          </a:p>
        </p:txBody>
      </p:sp>
      <p:sp>
        <p:nvSpPr>
          <p:cNvPr id="1048695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56CBCAE-4922-43E5-A623-0BF880173A60}" type="datetime3">
              <a:rPr lang="en-US" smtClean="0"/>
              <a:t>24 May 2025</a:t>
            </a:fld>
            <a:endParaRPr dirty="0" lang="en-US"/>
          </a:p>
        </p:txBody>
      </p:sp>
      <p:sp>
        <p:nvSpPr>
          <p:cNvPr id="1048696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CGB1121 – PYTHON PROGRAMMING –PROJECT REVIEW 1</a:t>
            </a:r>
            <a:endParaRPr dirty="0" lang="en-US"/>
          </a:p>
        </p:txBody>
      </p:sp>
      <p:sp>
        <p:nvSpPr>
          <p:cNvPr id="1048697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2A63921-D0A8-45BD-ADF0-24CC5F135FEC}" type="slidenum">
              <a:rPr altLang="en-US" lang="en-US" smtClean="0"/>
              <a:t>‹#›</a:t>
            </a:fld>
            <a:endParaRPr altLang="en-US" lang="en-US"/>
          </a:p>
        </p:txBody>
      </p:sp>
      <p:sp>
        <p:nvSpPr>
          <p:cNvPr id="1048698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1600200"/>
            <a:ext cx="4038600" cy="3028950"/>
          </a:xfrm>
        </p:spPr>
        <p:txBody>
          <a:bodyPr/>
          <a:p>
            <a:pPr eaLnBrk="1" hangingPunct="1" latinLnBrk="0" lvl="0"/>
            <a:r>
              <a:rPr lang="en-US"/>
              <a:t>Click to edit Master text styles</a:t>
            </a:r>
          </a:p>
          <a:p>
            <a:pPr eaLnBrk="1" hangingPunct="1" latinLnBrk="0" lvl="1"/>
            <a:r>
              <a:rPr lang="en-US"/>
              <a:t>Second level</a:t>
            </a:r>
          </a:p>
          <a:p>
            <a:pPr eaLnBrk="1" hangingPunct="1" latinLnBrk="0" lvl="2"/>
            <a:r>
              <a:rPr lang="en-US"/>
              <a:t>Third level</a:t>
            </a:r>
          </a:p>
          <a:p>
            <a:pPr eaLnBrk="1" hangingPunct="1" latinLnBrk="0" lvl="3"/>
            <a:r>
              <a:rPr lang="en-US"/>
              <a:t>Fourth level</a:t>
            </a:r>
          </a:p>
          <a:p>
            <a:pPr eaLnBrk="1" hangingPunct="1" latinLnBrk="0" lvl="4"/>
            <a:r>
              <a:rPr lang="en-US"/>
              <a:t>Fifth level</a:t>
            </a:r>
            <a:endParaRPr kumimoji="0" lang="en-US"/>
          </a:p>
        </p:txBody>
      </p:sp>
      <p:sp>
        <p:nvSpPr>
          <p:cNvPr id="1048699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1600200"/>
            <a:ext cx="4038600" cy="3028950"/>
          </a:xfrm>
        </p:spPr>
        <p:txBody>
          <a:bodyPr/>
          <a:p>
            <a:pPr eaLnBrk="1" hangingPunct="1" latinLnBrk="0" lvl="0"/>
            <a:r>
              <a:rPr lang="en-US"/>
              <a:t>Click to edit Master text styles</a:t>
            </a:r>
          </a:p>
          <a:p>
            <a:pPr eaLnBrk="1" hangingPunct="1" latinLnBrk="0" lvl="1"/>
            <a:r>
              <a:rPr lang="en-US"/>
              <a:t>Second level</a:t>
            </a:r>
          </a:p>
          <a:p>
            <a:pPr eaLnBrk="1" hangingPunct="1" latinLnBrk="0" lvl="2"/>
            <a:r>
              <a:rPr lang="en-US"/>
              <a:t>Third level</a:t>
            </a:r>
          </a:p>
          <a:p>
            <a:pPr eaLnBrk="1" hangingPunct="1" latinLnBrk="0" lvl="3"/>
            <a:r>
              <a:rPr lang="en-US"/>
              <a:t>Fourth level</a:t>
            </a:r>
          </a:p>
          <a:p>
            <a:pPr eaLnBrk="1" hangingPunct="1" latinLnBrk="0" lvl="4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Title 1"/>
          <p:cNvSpPr>
            <a:spLocks noGrp="1"/>
          </p:cNvSpPr>
          <p:nvPr>
            <p:ph type="title"/>
          </p:nvPr>
        </p:nvSpPr>
        <p:spPr>
          <a:xfrm>
            <a:off x="457200" y="171450"/>
            <a:ext cx="8229600" cy="685800"/>
          </a:xfrm>
        </p:spPr>
        <p:txBody>
          <a:bodyPr/>
          <a:p>
            <a:r>
              <a:rPr kumimoji="0" lang="en-US"/>
              <a:t>Click to edit Master title style</a:t>
            </a:r>
          </a:p>
        </p:txBody>
      </p:sp>
      <p:sp>
        <p:nvSpPr>
          <p:cNvPr id="1048646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4A49A9B-770B-4D1D-BEA9-C1C4C9A5A662}" type="datetime3">
              <a:rPr lang="en-US" smtClean="0"/>
              <a:t>24 May 2025</a:t>
            </a:fld>
            <a:endParaRPr dirty="0" lang="en-US"/>
          </a:p>
        </p:txBody>
      </p:sp>
      <p:sp>
        <p:nvSpPr>
          <p:cNvPr id="1048647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CGB1121 – PYTHON PROGRAMMING –PROJECT REVIEW 1</a:t>
            </a:r>
            <a:endParaRPr dirty="0" lang="en-US"/>
          </a:p>
        </p:txBody>
      </p:sp>
      <p:sp>
        <p:nvSpPr>
          <p:cNvPr id="104864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CE540F1-D866-4735-9E65-A1952EADD02D}" type="slidenum">
              <a:rPr altLang="en-US" lang="en-US" smtClean="0"/>
              <a:t>‹#›</a:t>
            </a:fld>
            <a:endParaRPr altLang="en-US" lang="en-US"/>
          </a:p>
        </p:txBody>
      </p:sp>
      <p:sp>
        <p:nvSpPr>
          <p:cNvPr id="1048649" name="Isosceles Triangle 5"/>
          <p:cNvSpPr>
            <a:spLocks noChangeAspect="1"/>
          </p:cNvSpPr>
          <p:nvPr/>
        </p:nvSpPr>
        <p:spPr>
          <a:xfrm rot="5400000">
            <a:off x="442957" y="4835567"/>
            <a:ext cx="143137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hangingPunct="1" latinLnBrk="0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0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B70C381-8234-4493-A0B4-F2FD96F1DB14}" type="datetime3">
              <a:rPr lang="en-US" smtClean="0"/>
              <a:t>24 May 2025</a:t>
            </a:fld>
            <a:endParaRPr dirty="0" lang="en-US"/>
          </a:p>
        </p:txBody>
      </p:sp>
      <p:sp>
        <p:nvSpPr>
          <p:cNvPr id="1048701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CGB1121 – PYTHON PROGRAMMING –PROJECT REVIEW 1</a:t>
            </a:r>
            <a:endParaRPr dirty="0" lang="en-US"/>
          </a:p>
        </p:txBody>
      </p:sp>
      <p:sp>
        <p:nvSpPr>
          <p:cNvPr id="104870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571F5BB-190B-45BA-B754-2541F8CA6F46}" type="slidenum">
              <a:rPr altLang="en-US" lang="en-US" smtClean="0"/>
              <a:t>‹#›</a:t>
            </a:fld>
            <a:endParaRPr altLang="en-US" lang="en-US"/>
          </a:p>
        </p:txBody>
      </p:sp>
      <p:sp>
        <p:nvSpPr>
          <p:cNvPr id="1048703" name="Straight Connector 4"/>
          <p:cNvSpPr>
            <a:spLocks noChangeShapeType="1"/>
          </p:cNvSpPr>
          <p:nvPr/>
        </p:nvSpPr>
        <p:spPr bwMode="auto">
          <a:xfrm>
            <a:off x="457200" y="4764881"/>
            <a:ext cx="8229600" cy="0"/>
          </a:xfrm>
          <a:prstGeom prst="line"/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anchor="t" bIns="45720" compatLnSpc="1" lIns="91440" rIns="91440" tIns="45720" vert="horz" wrap="square"/>
          <a:p>
            <a:endParaRPr kumimoji="0" lang="en-US"/>
          </a:p>
        </p:txBody>
      </p:sp>
      <p:sp>
        <p:nvSpPr>
          <p:cNvPr id="1048704" name="Isosceles Triangle 5"/>
          <p:cNvSpPr>
            <a:spLocks noChangeAspect="1"/>
          </p:cNvSpPr>
          <p:nvPr/>
        </p:nvSpPr>
        <p:spPr>
          <a:xfrm rot="5400000">
            <a:off x="442957" y="4835567"/>
            <a:ext cx="143137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hangingPunct="1" latinLnBrk="0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5" name="Title 1"/>
          <p:cNvSpPr>
            <a:spLocks noGrp="1"/>
          </p:cNvSpPr>
          <p:nvPr>
            <p:ph type="title"/>
          </p:nvPr>
        </p:nvSpPr>
        <p:spPr>
          <a:xfrm>
            <a:off x="6324600" y="228600"/>
            <a:ext cx="2514600" cy="628650"/>
          </a:xfrm>
        </p:spPr>
        <p:txBody>
          <a:bodyPr anchor="b" anchorCtr="0">
            <a:noAutofit/>
          </a:bodyPr>
          <a:lstStyle>
            <a:lvl1pPr algn="l">
              <a:buNone/>
              <a:defRPr b="1"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048706" name="Text Placeholder 2"/>
          <p:cNvSpPr>
            <a:spLocks noGrp="1"/>
          </p:cNvSpPr>
          <p:nvPr>
            <p:ph type="body" idx="2"/>
          </p:nvPr>
        </p:nvSpPr>
        <p:spPr>
          <a:xfrm>
            <a:off x="6324600" y="914401"/>
            <a:ext cx="2514600" cy="3632597"/>
          </a:xfrm>
        </p:spPr>
        <p:txBody>
          <a:bodyPr/>
          <a:lstStyle>
            <a:lvl1pPr indent="0" marL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eaLnBrk="1" hangingPunct="1" latinLnBrk="0" lvl="0"/>
            <a:r>
              <a:rPr kumimoji="0" lang="en-US"/>
              <a:t>Click to edit Master text styles</a:t>
            </a:r>
          </a:p>
        </p:txBody>
      </p:sp>
      <p:sp>
        <p:nvSpPr>
          <p:cNvPr id="104870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218892-8D6F-4935-9522-D7F3839DE182}" type="datetime3">
              <a:rPr lang="en-US" smtClean="0"/>
              <a:t>24 May 2025</a:t>
            </a:fld>
            <a:endParaRPr dirty="0" lang="en-US"/>
          </a:p>
        </p:txBody>
      </p:sp>
      <p:sp>
        <p:nvSpPr>
          <p:cNvPr id="104870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CGB1121 – PYTHON PROGRAMMING –PROJECT REVIEW 1</a:t>
            </a:r>
            <a:endParaRPr dirty="0" lang="en-US"/>
          </a:p>
        </p:txBody>
      </p:sp>
      <p:sp>
        <p:nvSpPr>
          <p:cNvPr id="104870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B3D1EAA-7E8D-49EA-BCBB-3C5BA424400D}" type="slidenum">
              <a:rPr altLang="en-US" lang="en-US" smtClean="0"/>
              <a:t>‹#›</a:t>
            </a:fld>
            <a:endParaRPr altLang="en-US" lang="en-US"/>
          </a:p>
        </p:txBody>
      </p:sp>
      <p:sp>
        <p:nvSpPr>
          <p:cNvPr id="1048710" name="Straight Connector 7"/>
          <p:cNvSpPr>
            <a:spLocks noChangeShapeType="1"/>
          </p:cNvSpPr>
          <p:nvPr/>
        </p:nvSpPr>
        <p:spPr bwMode="auto">
          <a:xfrm>
            <a:off x="457200" y="4764881"/>
            <a:ext cx="8229600" cy="0"/>
          </a:xfrm>
          <a:prstGeom prst="line"/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anchor="t" bIns="45720" compatLnSpc="1" lIns="91440" rIns="91440" tIns="45720" vert="horz" wrap="square"/>
          <a:p>
            <a:endParaRPr kumimoji="0" lang="en-US"/>
          </a:p>
        </p:txBody>
      </p:sp>
      <p:sp>
        <p:nvSpPr>
          <p:cNvPr id="1048711" name="Straight Connector 9"/>
          <p:cNvSpPr>
            <a:spLocks noChangeShapeType="1"/>
          </p:cNvSpPr>
          <p:nvPr/>
        </p:nvSpPr>
        <p:spPr bwMode="auto">
          <a:xfrm rot="5400000">
            <a:off x="3915025" y="2493169"/>
            <a:ext cx="4526280" cy="0"/>
          </a:xfrm>
          <a:prstGeom prst="line"/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anchor="t" bIns="45720" compatLnSpc="1" lIns="91440" rIns="91440" tIns="45720" vert="horz" wrap="square"/>
          <a:p>
            <a:endParaRPr dirty="0" kumimoji="0" lang="en-US"/>
          </a:p>
        </p:txBody>
      </p:sp>
      <p:sp>
        <p:nvSpPr>
          <p:cNvPr id="1048712" name="Isosceles Triangle 8"/>
          <p:cNvSpPr>
            <a:spLocks noChangeAspect="1"/>
          </p:cNvSpPr>
          <p:nvPr/>
        </p:nvSpPr>
        <p:spPr>
          <a:xfrm rot="5400000">
            <a:off x="442957" y="4835567"/>
            <a:ext cx="143137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hangingPunct="1" latinLnBrk="0"/>
            <a:endParaRPr kumimoji="0" lang="en-US"/>
          </a:p>
        </p:txBody>
      </p:sp>
      <p:sp>
        <p:nvSpPr>
          <p:cNvPr id="1048713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228600"/>
            <a:ext cx="5715000" cy="4286250"/>
          </a:xfrm>
        </p:spPr>
        <p:txBody>
          <a:bodyPr/>
          <a:p>
            <a:pPr eaLnBrk="1" hangingPunct="1" latinLnBrk="0" lvl="0"/>
            <a:r>
              <a:rPr lang="en-US"/>
              <a:t>Click to edit Master text styles</a:t>
            </a:r>
          </a:p>
          <a:p>
            <a:pPr eaLnBrk="1" hangingPunct="1" latinLnBrk="0" lvl="1"/>
            <a:r>
              <a:rPr lang="en-US"/>
              <a:t>Second level</a:t>
            </a:r>
          </a:p>
          <a:p>
            <a:pPr eaLnBrk="1" hangingPunct="1" latinLnBrk="0" lvl="2"/>
            <a:r>
              <a:rPr lang="en-US"/>
              <a:t>Third level</a:t>
            </a:r>
          </a:p>
          <a:p>
            <a:pPr eaLnBrk="1" hangingPunct="1" latinLnBrk="0" lvl="3"/>
            <a:r>
              <a:rPr lang="en-US"/>
              <a:t>Fourth level</a:t>
            </a:r>
          </a:p>
          <a:p>
            <a:pPr eaLnBrk="1" hangingPunct="1" latinLnBrk="0" lvl="4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Title 1"/>
          <p:cNvSpPr>
            <a:spLocks noGrp="1"/>
          </p:cNvSpPr>
          <p:nvPr>
            <p:ph type="title"/>
          </p:nvPr>
        </p:nvSpPr>
        <p:spPr>
          <a:xfrm>
            <a:off x="457200" y="375642"/>
            <a:ext cx="8229600" cy="506016"/>
          </a:xfrm>
          <a:ln>
            <a:solidFill>
              <a:schemeClr val="accent1"/>
            </a:solidFill>
          </a:ln>
        </p:spPr>
        <p:txBody>
          <a:bodyPr anchor="ctr" lIns="274320"/>
          <a:lstStyle>
            <a:lvl1pPr algn="r">
              <a:buNone/>
              <a:defRPr b="0" sz="20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048672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428750"/>
            <a:ext cx="8229600" cy="3202686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indent="0" marL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dirty="0" kumimoji="0" lang="en-US"/>
          </a:p>
        </p:txBody>
      </p:sp>
      <p:sp>
        <p:nvSpPr>
          <p:cNvPr id="1048673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914400"/>
            <a:ext cx="8229600" cy="400050"/>
          </a:xfrm>
        </p:spPr>
        <p:txBody>
          <a:bodyPr anchor="ctr" anchorCtr="0"/>
          <a:lstStyle>
            <a:lvl1pPr algn="l" indent="0" marL="0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eaLnBrk="1" hangingPunct="1" latinLnBrk="0" lvl="0"/>
            <a:r>
              <a:rPr kumimoji="0" lang="en-US"/>
              <a:t>Click to edit Master text styles</a:t>
            </a:r>
          </a:p>
        </p:txBody>
      </p:sp>
      <p:sp>
        <p:nvSpPr>
          <p:cNvPr id="104867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246F511-33B4-4684-9F91-8CFDFBA51AAB}" type="datetime3">
              <a:rPr lang="en-US" smtClean="0"/>
              <a:t>24 May 2025</a:t>
            </a:fld>
            <a:endParaRPr dirty="0" lang="en-US"/>
          </a:p>
        </p:txBody>
      </p:sp>
      <p:sp>
        <p:nvSpPr>
          <p:cNvPr id="104867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CGB1121 – PYTHON PROGRAMMING –PROJECT REVIEW 1</a:t>
            </a:r>
            <a:endParaRPr dirty="0" lang="en-US"/>
          </a:p>
        </p:txBody>
      </p:sp>
      <p:sp>
        <p:nvSpPr>
          <p:cNvPr id="104867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B93E55C-A662-4067-BE20-A4D82E579A38}" type="slidenum">
              <a:rPr altLang="en-US" lang="en-US" smtClean="0"/>
              <a:t>‹#›</a:t>
            </a:fld>
            <a:endParaRPr altLang="en-US" lang="en-US"/>
          </a:p>
        </p:txBody>
      </p:sp>
      <p:sp>
        <p:nvSpPr>
          <p:cNvPr id="1048677" name="Straight Connector 7"/>
          <p:cNvSpPr>
            <a:spLocks noChangeShapeType="1"/>
          </p:cNvSpPr>
          <p:nvPr/>
        </p:nvSpPr>
        <p:spPr bwMode="auto">
          <a:xfrm>
            <a:off x="457200" y="4764881"/>
            <a:ext cx="8229600" cy="0"/>
          </a:xfrm>
          <a:prstGeom prst="line"/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anchor="t" bIns="45720" compatLnSpc="1" lIns="91440" rIns="91440" tIns="45720" vert="horz" wrap="square"/>
          <a:p>
            <a:endParaRPr kumimoji="0" lang="en-US"/>
          </a:p>
        </p:txBody>
      </p:sp>
      <p:sp>
        <p:nvSpPr>
          <p:cNvPr id="1048678" name="Isosceles Triangle 8"/>
          <p:cNvSpPr>
            <a:spLocks noChangeAspect="1"/>
          </p:cNvSpPr>
          <p:nvPr/>
        </p:nvSpPr>
        <p:spPr>
          <a:xfrm rot="5400000">
            <a:off x="442957" y="4835567"/>
            <a:ext cx="143137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hangingPunct="1" latinLnBrk="0"/>
            <a:endParaRPr kumimoji="0" lang="en-US"/>
          </a:p>
        </p:txBody>
      </p:sp>
      <p:sp>
        <p:nvSpPr>
          <p:cNvPr id="1048679" name="Rectangle 9"/>
          <p:cNvSpPr/>
          <p:nvPr/>
        </p:nvSpPr>
        <p:spPr>
          <a:xfrm>
            <a:off x="457200" y="375642"/>
            <a:ext cx="182880" cy="514350"/>
          </a:xfrm>
          <a:prstGeom prst="rect"/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hangingPunct="1" latinLnBrk="0"/>
            <a:endParaRPr kumimoji="0" lang="en-US"/>
          </a:p>
        </p:txBody>
      </p:sp>
    </p:spTree>
  </p:cSld>
  <p:clrMapOvr>
    <a:overrideClrMapping accent1="accent1" accent2="accent2" accent3="accent3" accent4="accent4" accent5="accent5" accent6="accent6" bg1="dk1" bg2="dk2" tx1="lt1" tx2="lt2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kumimoji="0" lang="en-US"/>
              <a:t>Click to edit Master title style</a:t>
            </a:r>
          </a:p>
        </p:txBody>
      </p:sp>
      <p:sp>
        <p:nvSpPr>
          <p:cNvPr id="1048681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eaLnBrk="1" hangingPunct="1" latinLnBrk="0" lvl="0"/>
            <a:r>
              <a:rPr lang="en-US"/>
              <a:t>Click to edit Master text styles</a:t>
            </a:r>
          </a:p>
          <a:p>
            <a:pPr eaLnBrk="1" hangingPunct="1" latinLnBrk="0" lvl="1"/>
            <a:r>
              <a:rPr lang="en-US"/>
              <a:t>Second level</a:t>
            </a:r>
          </a:p>
          <a:p>
            <a:pPr eaLnBrk="1" hangingPunct="1" latinLnBrk="0" lvl="2"/>
            <a:r>
              <a:rPr lang="en-US"/>
              <a:t>Third level</a:t>
            </a:r>
          </a:p>
          <a:p>
            <a:pPr eaLnBrk="1" hangingPunct="1" latinLnBrk="0" lvl="3"/>
            <a:r>
              <a:rPr lang="en-US"/>
              <a:t>Fourth level</a:t>
            </a:r>
          </a:p>
          <a:p>
            <a:pPr eaLnBrk="1" hangingPunct="1" latinLnBrk="0" lvl="4"/>
            <a:r>
              <a:rPr lang="en-US"/>
              <a:t>Fifth level</a:t>
            </a:r>
            <a:endParaRPr kumimoji="0" lang="en-US"/>
          </a:p>
        </p:txBody>
      </p:sp>
      <p:sp>
        <p:nvSpPr>
          <p:cNvPr id="104868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CD6E9A3-7C5D-44BD-B91B-2254645B0D35}" type="datetime3">
              <a:rPr lang="en-US" smtClean="0"/>
              <a:t>24 May 2025</a:t>
            </a:fld>
            <a:endParaRPr dirty="0" lang="en-US"/>
          </a:p>
        </p:txBody>
      </p:sp>
      <p:sp>
        <p:nvSpPr>
          <p:cNvPr id="104868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CGB1121 – PYTHON PROGRAMMING –PROJECT REVIEW 1</a:t>
            </a:r>
            <a:endParaRPr dirty="0" lang="en-US"/>
          </a:p>
        </p:txBody>
      </p:sp>
      <p:sp>
        <p:nvSpPr>
          <p:cNvPr id="104868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A0C11DA-FA02-4E33-93FC-C378FAF95FBA}" type="slidenum">
              <a:rPr altLang="en-US" lang="en-US" smtClean="0"/>
              <a:t>‹#›</a:t>
            </a:fld>
            <a:endParaRPr altLang="en-US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p>
            <a:r>
              <a:rPr kumimoji="0" lang="en-US"/>
              <a:t>Click to edit Master title style</a:t>
            </a:r>
          </a:p>
        </p:txBody>
      </p:sp>
      <p:sp>
        <p:nvSpPr>
          <p:cNvPr id="1048664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p>
            <a:pPr eaLnBrk="1" hangingPunct="1" latinLnBrk="0" lvl="0"/>
            <a:r>
              <a:rPr lang="en-US"/>
              <a:t>Click to edit Master text styles</a:t>
            </a:r>
          </a:p>
          <a:p>
            <a:pPr eaLnBrk="1" hangingPunct="1" latinLnBrk="0" lvl="1"/>
            <a:r>
              <a:rPr lang="en-US"/>
              <a:t>Second level</a:t>
            </a:r>
          </a:p>
          <a:p>
            <a:pPr eaLnBrk="1" hangingPunct="1" latinLnBrk="0" lvl="2"/>
            <a:r>
              <a:rPr lang="en-US"/>
              <a:t>Third level</a:t>
            </a:r>
          </a:p>
          <a:p>
            <a:pPr eaLnBrk="1" hangingPunct="1" latinLnBrk="0" lvl="3"/>
            <a:r>
              <a:rPr lang="en-US"/>
              <a:t>Fourth level</a:t>
            </a:r>
          </a:p>
          <a:p>
            <a:pPr eaLnBrk="1" hangingPunct="1" latinLnBrk="0" lvl="4"/>
            <a:r>
              <a:rPr lang="en-US"/>
              <a:t>Fifth level</a:t>
            </a:r>
            <a:endParaRPr kumimoji="0" lang="en-US"/>
          </a:p>
        </p:txBody>
      </p:sp>
      <p:sp>
        <p:nvSpPr>
          <p:cNvPr id="104866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9A020FA-B49B-4391-A45E-A9A582874558}" type="datetime3">
              <a:rPr lang="en-US" smtClean="0"/>
              <a:t>24 May 2025</a:t>
            </a:fld>
            <a:endParaRPr dirty="0" lang="en-US"/>
          </a:p>
        </p:txBody>
      </p:sp>
      <p:sp>
        <p:nvSpPr>
          <p:cNvPr id="104866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CGB1121 – PYTHON PROGRAMMING –PROJECT REVIEW 1</a:t>
            </a:r>
            <a:endParaRPr dirty="0" lang="en-US"/>
          </a:p>
        </p:txBody>
      </p:sp>
      <p:sp>
        <p:nvSpPr>
          <p:cNvPr id="104866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1E085C4-C07B-4C80-B337-90438D59D3CD}" type="slidenum">
              <a:rPr altLang="en-US" lang="en-US" smtClean="0"/>
              <a:t>‹#›</a:t>
            </a:fld>
            <a:endParaRPr altLang="en-US" lang="en-US"/>
          </a:p>
        </p:txBody>
      </p:sp>
      <p:sp>
        <p:nvSpPr>
          <p:cNvPr id="1048668" name="Straight Connector 6"/>
          <p:cNvSpPr>
            <a:spLocks noChangeShapeType="1"/>
          </p:cNvSpPr>
          <p:nvPr/>
        </p:nvSpPr>
        <p:spPr bwMode="auto">
          <a:xfrm>
            <a:off x="457200" y="4764881"/>
            <a:ext cx="8229600" cy="0"/>
          </a:xfrm>
          <a:prstGeom prst="line"/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anchor="t" bIns="45720" compatLnSpc="1" lIns="91440" rIns="91440" tIns="45720" vert="horz" wrap="square"/>
          <a:p>
            <a:endParaRPr kumimoji="0" lang="en-US"/>
          </a:p>
        </p:txBody>
      </p:sp>
      <p:sp>
        <p:nvSpPr>
          <p:cNvPr id="1048669" name="Isosceles Triangle 7"/>
          <p:cNvSpPr>
            <a:spLocks noChangeAspect="1"/>
          </p:cNvSpPr>
          <p:nvPr/>
        </p:nvSpPr>
        <p:spPr>
          <a:xfrm rot="5400000">
            <a:off x="442957" y="4835567"/>
            <a:ext cx="143137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hangingPunct="1" latinLnBrk="0"/>
            <a:endParaRPr kumimoji="0" lang="en-US"/>
          </a:p>
        </p:txBody>
      </p:sp>
      <p:sp>
        <p:nvSpPr>
          <p:cNvPr id="1048670" name="Straight Connector 8"/>
          <p:cNvSpPr>
            <a:spLocks noChangeShapeType="1"/>
          </p:cNvSpPr>
          <p:nvPr/>
        </p:nvSpPr>
        <p:spPr bwMode="auto">
          <a:xfrm rot="5400000">
            <a:off x="4361127" y="2401464"/>
            <a:ext cx="4389120" cy="0"/>
          </a:xfrm>
          <a:prstGeom prst="line"/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anchor="t" bIns="45720" compatLnSpc="1" lIns="91440" rIns="91440" tIns="45720" vert="horz" wrap="square"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image" Target="../media/image1.jpeg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 dpi="0">
          <a:blip xmlns:r="http://schemas.openxmlformats.org/officeDocument/2006/relationships" r:embed="rId12">
            <a:alphaModFix amt="29000"/>
            <a:lum/>
          </a:blip>
          <a:srcRect/>
          <a:tile algn="tl" flip="none" sx="100000" sy="100000" tx="0" ty="0"/>
        </a:blipFill>
        <a:effectLst/>
      </p:bgPr>
    </p:bg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21"/>
          <p:cNvSpPr>
            <a:spLocks noGrp="1"/>
          </p:cNvSpPr>
          <p:nvPr>
            <p:ph type="title"/>
          </p:nvPr>
        </p:nvSpPr>
        <p:spPr>
          <a:xfrm>
            <a:off x="457200" y="114300"/>
            <a:ext cx="8229600" cy="742950"/>
          </a:xfrm>
          <a:prstGeom prst="rect"/>
        </p:spPr>
        <p:txBody>
          <a:bodyPr anchor="b" anchorCtr="0" vert="horz">
            <a:normAutofit/>
          </a:bodyPr>
          <a:p>
            <a:r>
              <a:rPr kumimoji="0" lang="en-US"/>
              <a:t>Click to edit Master title style</a:t>
            </a:r>
          </a:p>
        </p:txBody>
      </p:sp>
      <p:sp>
        <p:nvSpPr>
          <p:cNvPr id="1048577" name="Text Placeholder 12"/>
          <p:cNvSpPr>
            <a:spLocks noGrp="1"/>
          </p:cNvSpPr>
          <p:nvPr>
            <p:ph type="body" idx="1"/>
          </p:nvPr>
        </p:nvSpPr>
        <p:spPr>
          <a:xfrm>
            <a:off x="457200" y="914400"/>
            <a:ext cx="8229600" cy="3682746"/>
          </a:xfrm>
          <a:prstGeom prst="rect"/>
        </p:spPr>
        <p:txBody>
          <a:bodyPr vert="horz">
            <a:normAutofit/>
          </a:bodyPr>
          <a:p>
            <a:pPr eaLnBrk="1" hangingPunct="1" latinLnBrk="0" lvl="0"/>
            <a:r>
              <a:rPr kumimoji="0" lang="en-US"/>
              <a:t>Click to edit Master text styles</a:t>
            </a:r>
          </a:p>
          <a:p>
            <a:pPr eaLnBrk="1" hangingPunct="1" latinLnBrk="0" lvl="1"/>
            <a:r>
              <a:rPr kumimoji="0" lang="en-US"/>
              <a:t>Second level</a:t>
            </a:r>
          </a:p>
          <a:p>
            <a:pPr eaLnBrk="1" hangingPunct="1" latinLnBrk="0" lvl="2"/>
            <a:r>
              <a:rPr kumimoji="0" lang="en-US"/>
              <a:t>Third level</a:t>
            </a:r>
          </a:p>
          <a:p>
            <a:pPr eaLnBrk="1" hangingPunct="1" latinLnBrk="0" lvl="3"/>
            <a:r>
              <a:rPr kumimoji="0" lang="en-US"/>
              <a:t>Fourth level</a:t>
            </a:r>
          </a:p>
          <a:p>
            <a:pPr eaLnBrk="1" hangingPunct="1" latinLnBrk="0" lvl="4"/>
            <a:r>
              <a:rPr kumimoji="0" lang="en-US"/>
              <a:t>Fifth level</a:t>
            </a:r>
          </a:p>
        </p:txBody>
      </p:sp>
      <p:sp>
        <p:nvSpPr>
          <p:cNvPr id="1048578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4767263"/>
            <a:ext cx="2289048" cy="274320"/>
          </a:xfrm>
          <a:prstGeom prst="rect"/>
        </p:spPr>
        <p:txBody>
          <a:bodyPr vert="horz"/>
          <a:lstStyle>
            <a:lvl1pPr algn="l" eaLnBrk="1" hangingPunct="1" latinLnBrk="0">
              <a:defRPr sz="1400" kumimoji="0">
                <a:solidFill>
                  <a:schemeClr val="tx2"/>
                </a:solidFill>
              </a:defRPr>
            </a:lvl1pPr>
          </a:lstStyle>
          <a:p>
            <a:fld id="{03F0DBEF-CC95-4709-B5D7-B1ACCC3FD3B5}" type="datetime3">
              <a:rPr lang="en-US" smtClean="0"/>
              <a:t>24 May 2025</a:t>
            </a:fld>
            <a:endParaRPr dirty="0" lang="en-US"/>
          </a:p>
        </p:txBody>
      </p:sp>
      <p:sp>
        <p:nvSpPr>
          <p:cNvPr id="1048579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4767263"/>
            <a:ext cx="3505200" cy="274320"/>
          </a:xfrm>
          <a:prstGeom prst="rect"/>
        </p:spPr>
        <p:txBody>
          <a:bodyPr vert="horz"/>
          <a:lstStyle>
            <a:lvl1pPr algn="r" eaLnBrk="1" hangingPunct="1" latinLnBrk="0">
              <a:defRPr sz="1400" kumimoji="0">
                <a:solidFill>
                  <a:schemeClr val="tx2"/>
                </a:solidFill>
              </a:defRPr>
            </a:lvl1pPr>
          </a:lstStyle>
          <a:p>
            <a:r>
              <a:rPr lang="en-US"/>
              <a:t>CGB1121 – PYTHON PROGRAMMING –PROJECT REVIEW 1</a:t>
            </a:r>
            <a:endParaRPr dirty="0" lang="en-US"/>
          </a:p>
        </p:txBody>
      </p:sp>
      <p:sp>
        <p:nvSpPr>
          <p:cNvPr id="1048580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4767263"/>
            <a:ext cx="1981200" cy="274320"/>
          </a:xfrm>
          <a:prstGeom prst="rect"/>
        </p:spPr>
        <p:txBody>
          <a:bodyPr vert="horz"/>
          <a:lstStyle>
            <a:lvl1pPr algn="l" eaLnBrk="1" hangingPunct="1" latinLnBrk="0">
              <a:defRPr sz="1400" kumimoji="0">
                <a:solidFill>
                  <a:schemeClr val="tx2"/>
                </a:solidFill>
              </a:defRPr>
            </a:lvl1pPr>
          </a:lstStyle>
          <a:p>
            <a:fld id="{D78D2778-B29C-49DB-A26C-44F5760A332D}" type="slidenum">
              <a:rPr altLang="en-US" lang="en-US" smtClean="0"/>
              <a:t>‹#›</a:t>
            </a:fld>
            <a:endParaRPr altLang="en-US" lang="en-US"/>
          </a:p>
        </p:txBody>
      </p:sp>
      <p:sp>
        <p:nvSpPr>
          <p:cNvPr id="1048581" name="Straight Connector 27"/>
          <p:cNvSpPr>
            <a:spLocks noChangeShapeType="1"/>
          </p:cNvSpPr>
          <p:nvPr/>
        </p:nvSpPr>
        <p:spPr bwMode="auto">
          <a:xfrm>
            <a:off x="457200" y="4764881"/>
            <a:ext cx="8229600" cy="0"/>
          </a:xfrm>
          <a:prstGeom prst="line"/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anchor="t" bIns="45720" compatLnSpc="1" lIns="91440" rIns="91440" tIns="45720" vert="horz" wrap="square"/>
          <a:p>
            <a:endParaRPr kumimoji="0" lang="en-US"/>
          </a:p>
        </p:txBody>
      </p:sp>
      <p:sp>
        <p:nvSpPr>
          <p:cNvPr id="1048582" name="Straight Connector 28"/>
          <p:cNvSpPr>
            <a:spLocks noChangeShapeType="1"/>
          </p:cNvSpPr>
          <p:nvPr/>
        </p:nvSpPr>
        <p:spPr bwMode="auto">
          <a:xfrm>
            <a:off x="457200" y="857250"/>
            <a:ext cx="8229600" cy="0"/>
          </a:xfrm>
          <a:prstGeom prst="line"/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anchor="t" bIns="45720" compatLnSpc="1" lIns="91440" rIns="91440" tIns="45720" vert="horz" wrap="square"/>
          <a:p>
            <a:endParaRPr kumimoji="0" lang="en-US"/>
          </a:p>
        </p:txBody>
      </p:sp>
      <p:sp>
        <p:nvSpPr>
          <p:cNvPr id="1048583" name="Isosceles Triangle 9"/>
          <p:cNvSpPr>
            <a:spLocks noChangeAspect="1"/>
          </p:cNvSpPr>
          <p:nvPr/>
        </p:nvSpPr>
        <p:spPr>
          <a:xfrm rot="5400000">
            <a:off x="442957" y="4835567"/>
            <a:ext cx="143137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hangingPunct="1" latinLnBrk="0"/>
            <a:endParaRPr kumimoji="0"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dt="0" ftr="1" hdr="0" sldNum="1"/>
  <p:txStyles>
    <p:titleStyle>
      <a:lvl1pPr algn="l" eaLnBrk="1" hangingPunct="1" latinLnBrk="0" rtl="0">
        <a:spcBef>
          <a:spcPct val="0"/>
        </a:spcBef>
        <a:buNone/>
        <a:defRPr sz="3200" kern="1200" kumimoji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algn="l" eaLnBrk="1" hangingPunct="1" indent="-274320" latinLnBrk="0" marL="274320" rtl="0">
        <a:spcBef>
          <a:spcPts val="600"/>
        </a:spcBef>
        <a:buClr>
          <a:schemeClr val="accent1"/>
        </a:buClr>
        <a:buSzPct val="76000"/>
        <a:buFont typeface="Wingdings 3"/>
        <a:buChar char=""/>
        <a:defRPr sz="2600" kern="1200" kumimoji="0">
          <a:solidFill>
            <a:schemeClr val="tx1"/>
          </a:solidFill>
          <a:latin typeface="+mn-lt"/>
          <a:ea typeface="+mn-ea"/>
          <a:cs typeface="+mn-cs"/>
        </a:defRPr>
      </a:lvl1pPr>
      <a:lvl2pPr algn="l" eaLnBrk="1" hangingPunct="1" indent="-274320" latinLnBrk="0" marL="548640" rtl="0">
        <a:spcBef>
          <a:spcPts val="500"/>
        </a:spcBef>
        <a:buClr>
          <a:schemeClr val="accent2"/>
        </a:buClr>
        <a:buSzPct val="76000"/>
        <a:buFont typeface="Wingdings 3"/>
        <a:buChar char=""/>
        <a:defRPr sz="2300" kern="1200" kumimoji="0">
          <a:solidFill>
            <a:schemeClr val="tx2"/>
          </a:solidFill>
          <a:latin typeface="+mn-lt"/>
          <a:ea typeface="+mn-ea"/>
          <a:cs typeface="+mn-cs"/>
        </a:defRPr>
      </a:lvl2pPr>
      <a:lvl3pPr algn="l" eaLnBrk="1" hangingPunct="1" indent="-228600" latinLnBrk="0" marL="822960" rtl="0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sz="2000" kern="1200" kumimoji="0">
          <a:solidFill>
            <a:schemeClr val="tx1"/>
          </a:solidFill>
          <a:latin typeface="+mn-lt"/>
          <a:ea typeface="+mn-ea"/>
          <a:cs typeface="+mn-cs"/>
        </a:defRPr>
      </a:lvl3pPr>
      <a:lvl4pPr algn="l" eaLnBrk="1" hangingPunct="1" indent="-228600" latinLnBrk="0" marL="1097280" rtl="0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sz="1800" kern="1200" kumimoji="0">
          <a:solidFill>
            <a:schemeClr val="tx1"/>
          </a:solidFill>
          <a:latin typeface="+mn-lt"/>
          <a:ea typeface="+mn-ea"/>
          <a:cs typeface="+mn-cs"/>
        </a:defRPr>
      </a:lvl4pPr>
      <a:lvl5pPr algn="l" eaLnBrk="1" hangingPunct="1" indent="-228600" latinLnBrk="0" marL="1371600" rtl="0">
        <a:spcBef>
          <a:spcPts val="300"/>
        </a:spcBef>
        <a:buClr>
          <a:schemeClr val="accent2"/>
        </a:buClr>
        <a:buSzPct val="70000"/>
        <a:buFont typeface="Wingdings"/>
        <a:buChar char=""/>
        <a:defRPr sz="1600" kern="1200" kumimoji="0">
          <a:solidFill>
            <a:schemeClr val="tx1"/>
          </a:solidFill>
          <a:latin typeface="+mn-lt"/>
          <a:ea typeface="+mn-ea"/>
          <a:cs typeface="+mn-cs"/>
        </a:defRPr>
      </a:lvl5pPr>
      <a:lvl6pPr algn="l" eaLnBrk="1" hangingPunct="1" indent="-182880" latinLnBrk="0" marL="1645920" rtl="0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sz="1600" kern="1200" kumimoji="0" lang="en-US" smtClean="0">
          <a:solidFill>
            <a:schemeClr val="tx1"/>
          </a:solidFill>
          <a:latin typeface="+mn-lt"/>
          <a:ea typeface="+mn-ea"/>
          <a:cs typeface="+mn-cs"/>
        </a:defRPr>
      </a:lvl6pPr>
      <a:lvl7pPr algn="l" eaLnBrk="1" hangingPunct="1" indent="-182880" latinLnBrk="0" marL="1828800" rtl="0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sz="1400" kern="1200" kumimoji="0" lang="en-US" smtClean="0">
          <a:solidFill>
            <a:schemeClr val="tx1"/>
          </a:solidFill>
          <a:latin typeface="+mn-lt"/>
          <a:ea typeface="+mn-ea"/>
          <a:cs typeface="+mn-cs"/>
        </a:defRPr>
      </a:lvl7pPr>
      <a:lvl8pPr algn="l" eaLnBrk="1" hangingPunct="1" indent="-182880" latinLnBrk="0" marL="2011680" rtl="0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sz="1400" kern="1200" kumimoji="0" lang="en-US" smtClean="0">
          <a:solidFill>
            <a:schemeClr val="tx1"/>
          </a:solidFill>
          <a:latin typeface="+mn-lt"/>
          <a:ea typeface="+mn-ea"/>
          <a:cs typeface="+mn-cs"/>
        </a:defRPr>
      </a:lvl8pPr>
      <a:lvl9pPr algn="l" eaLnBrk="1" hangingPunct="1" indent="-182880" latinLnBrk="0" marL="2194560" rtl="0">
        <a:spcBef>
          <a:spcPts val="300"/>
        </a:spcBef>
        <a:buClr>
          <a:srgbClr val="9FB8CD"/>
        </a:buClr>
        <a:buSzPct val="75000"/>
        <a:buFont typeface="Wingdings 3"/>
        <a:buChar char=""/>
        <a:defRPr sz="1200" kern="1200" kumimoji="0" lang="en-US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algn="l" eaLnBrk="1" hangingPunct="1" latinLnBrk="0" marL="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1pPr>
      <a:lvl2pPr algn="l" eaLnBrk="1" hangingPunct="1" latinLnBrk="0" marL="4572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2pPr>
      <a:lvl3pPr algn="l" eaLnBrk="1" hangingPunct="1" latinLnBrk="0" marL="9144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3pPr>
      <a:lvl4pPr algn="l" eaLnBrk="1" hangingPunct="1" latinLnBrk="0" marL="13716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4pPr>
      <a:lvl5pPr algn="l" eaLnBrk="1" hangingPunct="1" latinLnBrk="0" marL="18288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5pPr>
      <a:lvl6pPr algn="l" eaLnBrk="1" hangingPunct="1" latinLnBrk="0" marL="22860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6pPr>
      <a:lvl7pPr algn="l" eaLnBrk="1" hangingPunct="1" latinLnBrk="0" marL="27432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7pPr>
      <a:lvl8pPr algn="l" eaLnBrk="1" hangingPunct="1" latinLnBrk="0" marL="32004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8pPr>
      <a:lvl9pPr algn="l" eaLnBrk="1" hangingPunct="1" latinLnBrk="0" marL="36576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1052513"/>
          </a:xfr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txBody>
          <a:bodyPr>
            <a:normAutofit/>
          </a:bodyPr>
          <a:p>
            <a:pPr algn="ctr"/>
            <a:r>
              <a:rPr b="1" dirty="0" sz="2800" lang="en-IN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EGB1122 – PYTHON PROGRAMMING</a:t>
            </a:r>
            <a:br>
              <a:rPr b="1" dirty="0" sz="2800" lang="en-IN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b="1" sz="2800" lang="en-IN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PROJECT </a:t>
            </a:r>
            <a:r>
              <a:rPr b="1" sz="2800" lang="en-IN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REVIEW-1</a:t>
            </a:r>
            <a:endParaRPr b="1" dirty="0" sz="2800" lang="en-IN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30" name="Footer Placeholder 4"/>
          <p:cNvSpPr txBox="1"/>
          <p:nvPr/>
        </p:nvSpPr>
        <p:spPr>
          <a:xfrm>
            <a:off x="762000" y="1276350"/>
            <a:ext cx="8001000" cy="3200400"/>
          </a:xfrm>
          <a:prstGeom prst="rect"/>
        </p:spPr>
        <p:txBody>
          <a:bodyPr anchor="b" bIns="0" lIns="45720" rIns="45720" rtlCol="0" vert="horz"/>
          <a:lstStyle>
            <a:defPPr>
              <a:defRPr lang="en-US"/>
            </a:defPPr>
            <a:lvl1pPr algn="l" eaLnBrk="1" fontAlgn="base" hangingPunct="1" latinLnBrk="0" rtl="0">
              <a:spcBef>
                <a:spcPct val="0"/>
              </a:spcBef>
              <a:spcAft>
                <a:spcPct val="0"/>
              </a:spcAft>
              <a:defRPr sz="1200" kern="1200" kumimoji="0">
                <a:solidFill>
                  <a:schemeClr val="tx1">
                    <a:tint val="95000"/>
                  </a:schemeClr>
                </a:solidFill>
                <a:latin typeface="Arial" charset="0"/>
                <a:ea typeface="+mn-ea"/>
                <a:cs typeface="Arial" charset="0"/>
              </a:defRPr>
            </a:lvl1pPr>
            <a:lvl2pPr algn="l" eaLnBrk="0" fontAlgn="base" hangingPunct="0" marL="457200" rtl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algn="l" eaLnBrk="0" fontAlgn="base" hangingPunct="0" marL="914400" rtl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algn="l" eaLnBrk="0" fontAlgn="base" hangingPunct="0" marL="1371600" rtl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algn="l" eaLnBrk="0" fontAlgn="base" hangingPunct="0" marL="1828800" rtl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algn="l" defTabSz="914400" eaLnBrk="1" hangingPunct="1" latinLnBrk="0" marL="2286000" rtl="0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algn="l" defTabSz="914400" eaLnBrk="1" hangingPunct="1" latinLnBrk="0" marL="2743200" rtl="0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algn="l" defTabSz="914400" eaLnBrk="1" hangingPunct="1" latinLnBrk="0" marL="3200400" rtl="0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algn="l" defTabSz="914400" eaLnBrk="1" hangingPunct="1" latinLnBrk="0" marL="3657600" rtl="0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ctr"/>
            <a:endParaRPr b="1" dirty="0" sz="2500" lang="en-US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b="1" dirty="0" sz="2400" lang="en-US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Department of Elect</a:t>
            </a:r>
            <a:r>
              <a:rPr b="1" dirty="0" sz="2400" lang="en-US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b="1" dirty="0" sz="2400" lang="en-US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b="1" dirty="0" sz="2400" lang="en-US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b="1" dirty="0" sz="2400" lang="en-US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b="1" dirty="0" sz="2400" lang="en-US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r>
              <a:rPr b="1" dirty="0" sz="2400" lang="en-US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b="1" dirty="0" sz="2400" lang="en-US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 </a:t>
            </a:r>
            <a:r>
              <a:rPr b="1" dirty="0" sz="2400" lang="en-US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Electronics</a:t>
            </a:r>
            <a:r>
              <a:rPr b="1" dirty="0" sz="2400" lang="en-US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b="1" dirty="0" sz="2400" lang="en-US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Engineering</a:t>
            </a:r>
            <a:endParaRPr altLang="en-US" lang="zh-CN"/>
          </a:p>
          <a:p>
            <a:pPr algn="ctr"/>
            <a:r>
              <a:rPr b="1" dirty="0" sz="2500" lang="en-US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Academic Year: 2024 – 2025 (Even Semester)</a:t>
            </a:r>
          </a:p>
          <a:p>
            <a:pPr algn="ctr"/>
            <a:endParaRPr b="1" dirty="0" sz="2500" lang="en-US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b="1" dirty="0" sz="2400" lang="en-US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Register Number	:927624BEE028</a:t>
            </a:r>
            <a:endParaRPr altLang="en-US" dirty="0" sz="2400" lang="zh-CN"/>
          </a:p>
          <a:p>
            <a:r>
              <a:rPr b="1" dirty="0" sz="2400" lang="en-US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Name					:GOBIKA.S</a:t>
            </a:r>
            <a:endParaRPr altLang="en-US" dirty="0" sz="2400" lang="zh-CN"/>
          </a:p>
          <a:p>
            <a:r>
              <a:rPr b="1" dirty="0" sz="2400" lang="en-US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Year					: I</a:t>
            </a:r>
          </a:p>
          <a:p>
            <a:r>
              <a:rPr b="1" dirty="0" sz="2400" lang="en-US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Semester				: II</a:t>
            </a:r>
          </a:p>
          <a:p>
            <a:r>
              <a:rPr b="1" dirty="0" sz="2400" lang="en-US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Section				: </a:t>
            </a:r>
            <a:r>
              <a:rPr b="1" dirty="0" sz="2400" lang="en-US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altLang="en-US" lang="zh-CN"/>
          </a:p>
          <a:p>
            <a:r>
              <a:rPr b="1" dirty="0" sz="2400" lang="en-US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Date					:09/04/2025</a:t>
            </a:r>
            <a:endParaRPr altLang="en-US" dirty="0" sz="2400" lang="zh-CN"/>
          </a:p>
        </p:txBody>
      </p:sp>
      <p:sp>
        <p:nvSpPr>
          <p:cNvPr id="104863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B554FDC-F986-4516-81A3-5CBC9634E9C1}" type="slidenum">
              <a:rPr altLang="en-US" lang="en-US" smtClean="0"/>
              <a:t>1</a:t>
            </a:fld>
            <a:endParaRPr altLang="en-US"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Title 9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75000"/>
            </a:schemeClr>
          </a:solidFill>
        </p:spPr>
        <p:txBody>
          <a:bodyPr>
            <a:normAutofit/>
          </a:bodyPr>
          <a:p>
            <a:pPr algn="ctr"/>
            <a:r>
              <a:rPr b="1" dirty="0" lang="en-IN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Title of the Project</a:t>
            </a:r>
            <a:endParaRPr b="1" dirty="0" sz="4000" lang="en-IN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25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438400" y="4767263"/>
            <a:ext cx="4340352" cy="376237"/>
          </a:xfrm>
        </p:spPr>
        <p:txBody>
          <a:bodyPr/>
          <a:p>
            <a:r>
              <a:rPr dirty="0" sz="1200" lang="en-US">
                <a:latin typeface="Times New Roman" pitchFamily="18" charset="0"/>
                <a:cs typeface="Times New Roman" pitchFamily="18" charset="0"/>
              </a:rPr>
              <a:t>EGB1122 – PYTHON PROGRAMMING –PROJECT REVIEW 1</a:t>
            </a:r>
          </a:p>
        </p:txBody>
      </p:sp>
      <p:sp>
        <p:nvSpPr>
          <p:cNvPr id="1048626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p>
            <a:fld id="{C8B3AA75-1EA1-4A20-9182-A423EE2FFA8F}" type="slidenum">
              <a:rPr altLang="en-US" lang="en-US"/>
              <a:t>2</a:t>
            </a:fld>
            <a:endParaRPr altLang="en-US" lang="en-US"/>
          </a:p>
        </p:txBody>
      </p:sp>
      <p:sp>
        <p:nvSpPr>
          <p:cNvPr id="1048627" name="Footer Placeholder 4"/>
          <p:cNvSpPr txBox="1"/>
          <p:nvPr/>
        </p:nvSpPr>
        <p:spPr>
          <a:xfrm>
            <a:off x="799641" y="1271071"/>
            <a:ext cx="7772400" cy="1224479"/>
          </a:xfrm>
          <a:prstGeom prst="rect"/>
        </p:spPr>
        <p:txBody>
          <a:bodyPr anchor="b" bIns="0" lIns="45720" rIns="45720" rtlCol="0" vert="horz"/>
          <a:lstStyle>
            <a:defPPr>
              <a:defRPr lang="en-US"/>
            </a:defPPr>
            <a:lvl1pPr algn="l" eaLnBrk="1" fontAlgn="base" hangingPunct="1" latinLnBrk="0" rtl="0">
              <a:spcBef>
                <a:spcPct val="0"/>
              </a:spcBef>
              <a:spcAft>
                <a:spcPct val="0"/>
              </a:spcAft>
              <a:defRPr sz="1200" kern="1200" kumimoji="0">
                <a:solidFill>
                  <a:schemeClr val="tx1">
                    <a:tint val="95000"/>
                  </a:schemeClr>
                </a:solidFill>
                <a:latin typeface="Arial" charset="0"/>
                <a:ea typeface="+mn-ea"/>
                <a:cs typeface="Arial" charset="0"/>
              </a:defRPr>
            </a:lvl1pPr>
            <a:lvl2pPr algn="l" eaLnBrk="0" fontAlgn="base" hangingPunct="0" marL="457200" rtl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algn="l" eaLnBrk="0" fontAlgn="base" hangingPunct="0" marL="914400" rtl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algn="l" eaLnBrk="0" fontAlgn="base" hangingPunct="0" marL="1371600" rtl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algn="l" eaLnBrk="0" fontAlgn="base" hangingPunct="0" marL="1828800" rtl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algn="l" defTabSz="914400" eaLnBrk="1" hangingPunct="1" latinLnBrk="0" marL="2286000" rtl="0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algn="l" defTabSz="914400" eaLnBrk="1" hangingPunct="1" latinLnBrk="0" marL="2743200" rtl="0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algn="l" defTabSz="914400" eaLnBrk="1" hangingPunct="1" latinLnBrk="0" marL="3200400" rtl="0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algn="l" defTabSz="914400" eaLnBrk="1" hangingPunct="1" latinLnBrk="0" marL="3657600" rtl="0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ctr"/>
            <a:endParaRPr b="1" dirty="0" sz="2500" lang="en-US"/>
          </a:p>
        </p:txBody>
      </p:sp>
      <p:sp>
        <p:nvSpPr>
          <p:cNvPr id="1048628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14400"/>
            <a:ext cx="8229600" cy="3703320"/>
          </a:xfrm>
        </p:spPr>
        <p:txBody>
          <a:bodyPr/>
          <a:p>
            <a:endParaRPr dirty="0" lang="en-IN">
              <a:latin typeface="Times New Roman" pitchFamily="18" charset="0"/>
              <a:cs typeface="Times New Roman" pitchFamily="18" charset="0"/>
            </a:endParaRPr>
          </a:p>
          <a:p>
            <a:endParaRPr dirty="0" lang="en-IN">
              <a:latin typeface="Times New Roman" pitchFamily="18" charset="0"/>
              <a:cs typeface="Times New Roman" pitchFamily="18" charset="0"/>
            </a:endParaRPr>
          </a:p>
          <a:p>
            <a:endParaRPr dirty="0" lang="en-IN">
              <a:latin typeface="Times New Roman" pitchFamily="18" charset="0"/>
              <a:cs typeface="Times New Roman" pitchFamily="18" charset="0"/>
            </a:endParaRPr>
          </a:p>
          <a:p>
            <a:pPr algn="ctr" indent="0" marL="0">
              <a:buNone/>
            </a:pPr>
            <a:r>
              <a:rPr dirty="0" lang="en-US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dirty="0" sz="2400" lang="en-US">
                <a:latin typeface="Times New Roman" pitchFamily="18" charset="0"/>
                <a:cs typeface="Times New Roman" pitchFamily="18" charset="0"/>
              </a:rPr>
              <a:t>PERSONAL FINANCE MANAGEMENT SYSTEM </a:t>
            </a:r>
            <a:endParaRPr dirty="0" sz="2400" lang="en-IN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Title 1"/>
          <p:cNvSpPr>
            <a:spLocks noGrp="1"/>
          </p:cNvSpPr>
          <p:nvPr>
            <p:ph type="title"/>
          </p:nvPr>
        </p:nvSpPr>
        <p:spPr>
          <a:xfrm>
            <a:off x="457200" y="209550"/>
            <a:ext cx="8229600" cy="609600"/>
          </a:xfrm>
          <a:solidFill>
            <a:schemeClr val="bg2">
              <a:lumMod val="75000"/>
            </a:schemeClr>
          </a:solidFill>
        </p:spPr>
        <p:txBody>
          <a:bodyPr>
            <a:normAutofit/>
          </a:bodyPr>
          <a:p>
            <a:pPr algn="ctr"/>
            <a:r>
              <a:rPr b="1" dirty="0" lang="en-IN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Abstract</a:t>
            </a:r>
            <a:r>
              <a:rPr dirty="0" lang="en-IN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dirty="0" sz="4000" lang="en-IN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1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38400" y="4767263"/>
            <a:ext cx="4267200" cy="376237"/>
          </a:xfrm>
        </p:spPr>
        <p:txBody>
          <a:bodyPr/>
          <a:p>
            <a:r>
              <a:rPr dirty="0" sz="1200" lang="en-US">
                <a:latin typeface="Times New Roman" pitchFamily="18" charset="0"/>
                <a:cs typeface="Times New Roman" pitchFamily="18" charset="0"/>
              </a:rPr>
              <a:t>EGB1122 – PYTHON PROGRAMMING –PROJECT REVIEW 1</a:t>
            </a:r>
          </a:p>
        </p:txBody>
      </p:sp>
      <p:sp>
        <p:nvSpPr>
          <p:cNvPr id="104861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E14ABD8-B1EB-4C07-9937-C8C4E38BDF00}" type="slidenum">
              <a:rPr altLang="en-US" lang="en-US" smtClean="0"/>
              <a:t>3</a:t>
            </a:fld>
            <a:endParaRPr altLang="en-US" lang="en-US"/>
          </a:p>
        </p:txBody>
      </p:sp>
      <p:sp>
        <p:nvSpPr>
          <p:cNvPr id="1048617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p>
            <a:endParaRPr dirty="0" lang="en-IN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D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e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s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i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igned to help users efficiently </a:t>
            </a:r>
            <a:endParaRPr dirty="0" lang="en-IN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T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o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t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rack and manage the income, expenses, savings, and investments</a:t>
            </a:r>
            <a:endParaRPr dirty="0" lang="en-IN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P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rovide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t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ools for budgeting, setting financial goals, and analyzing spending patterns</a:t>
            </a:r>
            <a:endParaRPr dirty="0" lang="en-IN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E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n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abl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e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s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b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etter financial decision-making</a:t>
            </a:r>
            <a:endParaRPr dirty="0" lang="en-IN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A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i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ms to promote financial awareness </a:t>
            </a:r>
            <a:r>
              <a:rPr dirty="0" sz="1400" lang="en-US" smtClean="0">
                <a:latin typeface="Times New Roman" pitchFamily="18" charset="0"/>
                <a:cs typeface="Times New Roman" pitchFamily="18" charset="0"/>
              </a:rPr>
              <a:t>and discipline 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through automation and data visualization</a:t>
            </a:r>
            <a:r>
              <a:rPr dirty="0" lang="en-US">
                <a:latin typeface="Times New Roman" pitchFamily="18" charset="0"/>
                <a:cs typeface="Times New Roman" pitchFamily="18" charset="0"/>
              </a:rPr>
              <a:t>.</a:t>
            </a:r>
            <a:endParaRPr dirty="0" lang="en-IN">
              <a:latin typeface="Times New Roman" pitchFamily="18" charset="0"/>
              <a:cs typeface="Times New Roman" pitchFamily="18" charset="0"/>
            </a:endParaRPr>
          </a:p>
          <a:p>
            <a:pPr indent="0" marL="0">
              <a:buNone/>
            </a:pPr>
            <a:endParaRPr dirty="0" lang="en-IN">
              <a:latin typeface="Times New Roman" pitchFamily="18" charset="0"/>
              <a:cs typeface="Times New Roman" pitchFamily="18" charset="0"/>
            </a:endParaRPr>
          </a:p>
          <a:p>
            <a:endParaRPr altLang="en-US" dirty="0" lang="zh-CN"/>
          </a:p>
        </p:txBody>
      </p:sp>
      <p:sp>
        <p:nvSpPr>
          <p:cNvPr id="1048618" name=""/>
          <p:cNvSpPr txBox="1"/>
          <p:nvPr/>
        </p:nvSpPr>
        <p:spPr>
          <a:xfrm>
            <a:off x="2572000" y="2362200"/>
            <a:ext cx="4000000" cy="447040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/>
            </a:r>
            <a:endParaRPr sz="2800" lang="en-US">
              <a:solidFill>
                <a:srgbClr val="000000"/>
              </a:solidFill>
            </a:endParaRPr>
          </a:p>
        </p:txBody>
      </p:sp>
      <p:sp>
        <p:nvSpPr>
          <p:cNvPr id="1048619" name=""/>
          <p:cNvSpPr txBox="1"/>
          <p:nvPr/>
        </p:nvSpPr>
        <p:spPr>
          <a:xfrm>
            <a:off x="2572000" y="2362200"/>
            <a:ext cx="4000000" cy="447040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/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Title 8"/>
          <p:cNvSpPr>
            <a:spLocks noGrp="1"/>
          </p:cNvSpPr>
          <p:nvPr>
            <p:ph type="title"/>
          </p:nvPr>
        </p:nvSpPr>
        <p:spPr>
          <a:xfrm>
            <a:off x="685800" y="171450"/>
            <a:ext cx="8001000" cy="495300"/>
          </a:xfrm>
          <a:solidFill>
            <a:schemeClr val="bg2">
              <a:lumMod val="75000"/>
            </a:schemeClr>
          </a:solidFill>
        </p:spPr>
        <p:txBody>
          <a:bodyPr>
            <a:noAutofit/>
          </a:bodyPr>
          <a:p>
            <a:pPr algn="ctr"/>
            <a:r>
              <a:rPr b="1" dirty="0" lang="en-IN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Abstract with CO/PO Mapping</a:t>
            </a:r>
            <a:endParaRPr b="1" dirty="0" sz="4000" lang="en-IN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05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62200" y="4767263"/>
            <a:ext cx="4572000" cy="376237"/>
          </a:xfrm>
        </p:spPr>
        <p:txBody>
          <a:bodyPr/>
          <a:p>
            <a:r>
              <a:rPr dirty="0" sz="1200" lang="en-US">
                <a:latin typeface="Times New Roman" pitchFamily="18" charset="0"/>
                <a:cs typeface="Times New Roman" pitchFamily="18" charset="0"/>
              </a:rPr>
              <a:t>EGB1122 – PYTHON PROGRAMMING –PROJECT REVIEW 1</a:t>
            </a:r>
          </a:p>
        </p:txBody>
      </p:sp>
      <p:sp>
        <p:nvSpPr>
          <p:cNvPr id="1048606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p>
            <a:fld id="{C8B3AA75-1EA1-4A20-9182-A423EE2FFA8F}" type="slidenum">
              <a:rPr altLang="en-US" lang="en-US"/>
              <a:t>4</a:t>
            </a:fld>
            <a:endParaRPr altLang="en-US" lang="en-US"/>
          </a:p>
        </p:txBody>
      </p:sp>
      <p:sp>
        <p:nvSpPr>
          <p:cNvPr id="1048607" name="Footer Placeholder 4"/>
          <p:cNvSpPr txBox="1"/>
          <p:nvPr/>
        </p:nvSpPr>
        <p:spPr>
          <a:xfrm>
            <a:off x="799641" y="1271071"/>
            <a:ext cx="7772400" cy="1224479"/>
          </a:xfrm>
          <a:prstGeom prst="rect"/>
        </p:spPr>
        <p:txBody>
          <a:bodyPr anchor="b" bIns="0" lIns="45720" rIns="45720" rtlCol="0" vert="horz"/>
          <a:lstStyle>
            <a:defPPr>
              <a:defRPr lang="en-US"/>
            </a:defPPr>
            <a:lvl1pPr algn="l" eaLnBrk="1" fontAlgn="base" hangingPunct="1" latinLnBrk="0" rtl="0">
              <a:spcBef>
                <a:spcPct val="0"/>
              </a:spcBef>
              <a:spcAft>
                <a:spcPct val="0"/>
              </a:spcAft>
              <a:defRPr sz="1200" kern="1200" kumimoji="0">
                <a:solidFill>
                  <a:schemeClr val="tx1">
                    <a:tint val="95000"/>
                  </a:schemeClr>
                </a:solidFill>
                <a:latin typeface="Arial" charset="0"/>
                <a:ea typeface="+mn-ea"/>
                <a:cs typeface="Arial" charset="0"/>
              </a:defRPr>
            </a:lvl1pPr>
            <a:lvl2pPr algn="l" eaLnBrk="0" fontAlgn="base" hangingPunct="0" marL="457200" rtl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algn="l" eaLnBrk="0" fontAlgn="base" hangingPunct="0" marL="914400" rtl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algn="l" eaLnBrk="0" fontAlgn="base" hangingPunct="0" marL="1371600" rtl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algn="l" eaLnBrk="0" fontAlgn="base" hangingPunct="0" marL="1828800" rtl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algn="l" defTabSz="914400" eaLnBrk="1" hangingPunct="1" latinLnBrk="0" marL="2286000" rtl="0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algn="l" defTabSz="914400" eaLnBrk="1" hangingPunct="1" latinLnBrk="0" marL="2743200" rtl="0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algn="l" defTabSz="914400" eaLnBrk="1" hangingPunct="1" latinLnBrk="0" marL="3200400" rtl="0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algn="l" defTabSz="914400" eaLnBrk="1" hangingPunct="1" latinLnBrk="0" marL="3657600" rtl="0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ctr"/>
            <a:endParaRPr b="1" dirty="0" sz="2500" lang="en-US"/>
          </a:p>
        </p:txBody>
      </p:sp>
      <p:graphicFrame>
        <p:nvGraphicFramePr>
          <p:cNvPr id="4194304" name="Table 2"/>
          <p:cNvGraphicFramePr>
            <a:graphicFrameLocks noGrp="1"/>
          </p:cNvGraphicFramePr>
          <p:nvPr/>
        </p:nvGraphicFramePr>
        <p:xfrm>
          <a:off x="533400" y="1123950"/>
          <a:ext cx="8153400" cy="35476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838200"/>
                <a:gridCol w="914400"/>
                <a:gridCol w="685800"/>
              </a:tblGrid>
              <a:tr h="438734">
                <a:tc>
                  <a:txBody>
                    <a:bodyPr/>
                    <a:p>
                      <a:pPr algn="ctr"/>
                      <a:r>
                        <a:rPr dirty="0" sz="1800" lang="en-US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Abstract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dirty="0" sz="1800" lang="en-US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CO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dirty="0" sz="1800" lang="en-US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POs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dirty="0" sz="1800" lang="en-US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PSO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  <a:tr h="2799768">
                <a:tc>
                  <a:txBody>
                    <a:bodyPr/>
                    <a:p>
                      <a:endParaRPr dirty="0" sz="1800" lang="en-US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r>
                        <a:rPr dirty="0" sz="1600" lang="en-US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dirty="0" sz="1600" lang="en-US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r>
                        <a:rPr dirty="0" sz="1600" lang="en-US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esigned to help users efficiently </a:t>
                      </a:r>
                      <a:endParaRPr altLang="en-US" lang="zh-CN"/>
                    </a:p>
                    <a:p>
                      <a:r>
                        <a:rPr dirty="0" sz="1600" lang="en-US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dirty="0" sz="1600" lang="en-US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r>
                        <a:rPr dirty="0" sz="1600" lang="en-US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o</a:t>
                      </a:r>
                      <a:r>
                        <a:rPr dirty="0" sz="1600" lang="en-US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dirty="0" sz="1600" lang="en-US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track and manage their income, expenses, savings, and investments</a:t>
                      </a:r>
                      <a:endParaRPr altLang="en-US" lang="zh-CN"/>
                    </a:p>
                    <a:p>
                      <a:r>
                        <a:rPr dirty="0" sz="1600" lang="en-US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dirty="0" sz="1600" lang="en-US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dirty="0" sz="1600" lang="en-US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  <a:r>
                        <a:rPr dirty="0" sz="1600" lang="en-US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</a:t>
                      </a:r>
                      <a:r>
                        <a:rPr dirty="0" sz="1600" lang="en-US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o</a:t>
                      </a:r>
                      <a:r>
                        <a:rPr dirty="0" sz="1600" lang="en-US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v</a:t>
                      </a:r>
                      <a:r>
                        <a:rPr dirty="0" sz="1600" lang="en-US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ide </a:t>
                      </a:r>
                      <a:r>
                        <a:rPr dirty="0" sz="1600" lang="en-US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tools for budgeting, setting financial goals, and analyzing spending pattern</a:t>
                      </a:r>
                      <a:endParaRPr altLang="en-US" lang="zh-CN"/>
                    </a:p>
                    <a:p>
                      <a:r>
                        <a:rPr dirty="0" sz="1600" lang="en-US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dirty="0" sz="1600" lang="en-US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dirty="0" sz="1600" lang="en-US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E</a:t>
                      </a:r>
                      <a:r>
                        <a:rPr dirty="0" sz="1600" lang="en-US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  <a:r>
                        <a:rPr dirty="0" sz="1600" lang="en-US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r>
                        <a:rPr dirty="0" sz="1600" lang="en-US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r>
                        <a:rPr dirty="0" sz="1600" lang="en-US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</a:t>
                      </a:r>
                      <a:r>
                        <a:rPr dirty="0" sz="1600" lang="en-US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e</a:t>
                      </a:r>
                      <a:r>
                        <a:rPr dirty="0" sz="1600" lang="en-US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dirty="0" sz="1600" lang="en-US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dirty="0" sz="1600" lang="en-US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better financial decision-making</a:t>
                      </a:r>
                      <a:endParaRPr altLang="en-US" lang="zh-CN"/>
                    </a:p>
                    <a:p>
                      <a:r>
                        <a:rPr dirty="0" sz="1600" lang="en-US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dirty="0" sz="1600" lang="en-US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r>
                        <a:rPr dirty="0" sz="1600" lang="en-US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ims to promote financial awareness and discipline through automation and data </a:t>
                      </a:r>
                      <a:r>
                        <a:rPr dirty="0" sz="1600" lang="en-US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dirty="0" sz="1600" lang="en-US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dirty="0" sz="1600" lang="en-US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dirty="0" sz="1600" lang="en-US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dirty="0" sz="1600" lang="en-US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dirty="0" sz="1600" lang="en-US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dirty="0" sz="1600" lang="en-US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dirty="0" sz="1600" lang="en-US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visualization.</a:t>
                      </a:r>
                      <a:endParaRPr altLang="en-US" lang="zh-CN"/>
                    </a:p>
                    <a:p>
                      <a:endParaRPr dirty="0" sz="1600" lang="en-US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dirty="0" sz="1800" lang="en-US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altLang="en-US" dirty="0" lang="zh-CN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dirty="0" sz="1400" lang="en-US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CO1</a:t>
                      </a:r>
                    </a:p>
                    <a:p>
                      <a:pPr algn="ctr"/>
                      <a:r>
                        <a:rPr dirty="0" sz="1400" lang="en-US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CO2</a:t>
                      </a:r>
                    </a:p>
                    <a:p>
                      <a:pPr algn="ctr"/>
                      <a:r>
                        <a:rPr dirty="0" sz="1400" lang="en-US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CO3</a:t>
                      </a:r>
                    </a:p>
                    <a:p>
                      <a:pPr algn="ctr"/>
                      <a:r>
                        <a:rPr dirty="0" sz="1400" lang="en-US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CO4</a:t>
                      </a:r>
                    </a:p>
                    <a:p>
                      <a:pPr algn="ctr"/>
                      <a:r>
                        <a:rPr dirty="0" sz="1400" lang="en-US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CO5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dirty="0" sz="1400" lang="en-US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PO1-PO12</a:t>
                      </a:r>
                      <a:endParaRPr dirty="0" sz="1400" lang="en-US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endParaRPr dirty="0" sz="1800" lang="en-US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dirty="0" sz="1400" lang="en-US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PSO1</a:t>
                      </a:r>
                    </a:p>
                    <a:p>
                      <a:pPr algn="ctr"/>
                      <a:r>
                        <a:rPr dirty="0" sz="1400" lang="en-US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PSO2</a:t>
                      </a:r>
                      <a:endParaRPr dirty="0" sz="1400" lang="en-US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endParaRPr dirty="0" sz="1800" lang="en-US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1048608" name=""/>
          <p:cNvSpPr txBox="1"/>
          <p:nvPr/>
        </p:nvSpPr>
        <p:spPr>
          <a:xfrm>
            <a:off x="2572000" y="2362200"/>
            <a:ext cx="4000000" cy="447040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/>
            </a:r>
            <a:endParaRPr sz="2800" lang="en-US">
              <a:solidFill>
                <a:srgbClr val="000000"/>
              </a:solidFill>
            </a:endParaRPr>
          </a:p>
        </p:txBody>
      </p:sp>
      <p:sp>
        <p:nvSpPr>
          <p:cNvPr id="1048609" name=""/>
          <p:cNvSpPr txBox="1"/>
          <p:nvPr/>
        </p:nvSpPr>
        <p:spPr>
          <a:xfrm>
            <a:off x="2572000" y="2362200"/>
            <a:ext cx="4000000" cy="447040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/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Title 1"/>
          <p:cNvSpPr>
            <a:spLocks noGrp="1"/>
          </p:cNvSpPr>
          <p:nvPr>
            <p:ph type="title"/>
          </p:nvPr>
        </p:nvSpPr>
        <p:spPr>
          <a:xfrm>
            <a:off x="457200" y="285750"/>
            <a:ext cx="8229600" cy="457200"/>
          </a:xfrm>
          <a:solidFill>
            <a:schemeClr val="bg2">
              <a:lumMod val="75000"/>
            </a:schemeClr>
          </a:solidFill>
        </p:spPr>
        <p:txBody>
          <a:bodyPr>
            <a:noAutofit/>
          </a:bodyPr>
          <a:p>
            <a:pPr algn="ctr"/>
            <a:r>
              <a:rPr b="1" dirty="0" lang="en-IN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  <a:endParaRPr b="1" dirty="0" sz="4000" lang="en-IN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59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62200" y="4767263"/>
            <a:ext cx="4495800" cy="376237"/>
          </a:xfrm>
        </p:spPr>
        <p:txBody>
          <a:bodyPr/>
          <a:p>
            <a:r>
              <a:rPr dirty="0" sz="1200" lang="en-US">
                <a:latin typeface="Times New Roman" pitchFamily="18" charset="0"/>
                <a:cs typeface="Times New Roman" pitchFamily="18" charset="0"/>
              </a:rPr>
              <a:t>EGB1122 – PYTHON PROGRAMMING –PROJECT REVIEW 1</a:t>
            </a:r>
          </a:p>
        </p:txBody>
      </p:sp>
      <p:sp>
        <p:nvSpPr>
          <p:cNvPr id="104859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E14ABD8-B1EB-4C07-9937-C8C4E38BDF00}" type="slidenum">
              <a:rPr altLang="en-US" lang="en-US" smtClean="0"/>
              <a:t>5</a:t>
            </a:fld>
            <a:endParaRPr altLang="en-US" lang="en-US"/>
          </a:p>
        </p:txBody>
      </p:sp>
      <p:sp>
        <p:nvSpPr>
          <p:cNvPr id="1048592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p>
            <a:pPr indent="0" marL="0">
              <a:buNone/>
            </a:pP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 </a:t>
            </a:r>
            <a:endParaRPr dirty="0" sz="1400" lang="en-IN">
              <a:latin typeface="Times New Roman" pitchFamily="18" charset="0"/>
              <a:cs typeface="Times New Roman" pitchFamily="18" charset="0"/>
            </a:endParaRPr>
          </a:p>
          <a:p>
            <a:pPr indent="0" marL="0">
              <a:buNone/>
            </a:pPr>
            <a:endParaRPr dirty="0" sz="1400" lang="en-IN">
              <a:latin typeface="Times New Roman" pitchFamily="18" charset="0"/>
              <a:cs typeface="Times New Roman" pitchFamily="18" charset="0"/>
            </a:endParaRPr>
          </a:p>
          <a:p>
            <a:pPr indent="0" marL="0">
              <a:buNone/>
            </a:pP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E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s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s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e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ntial for achieving financial stability </a:t>
            </a:r>
            <a:endParaRPr dirty="0" sz="1400" lang="en-IN">
              <a:latin typeface="Times New Roman" pitchFamily="18" charset="0"/>
              <a:cs typeface="Times New Roman" pitchFamily="18" charset="0"/>
            </a:endParaRPr>
          </a:p>
          <a:p>
            <a:pPr indent="0" marL="0">
              <a:buNone/>
            </a:pP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T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o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m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a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k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e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a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p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l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anning for the future.</a:t>
            </a:r>
            <a:endParaRPr dirty="0" sz="1400" lang="en-IN">
              <a:latin typeface="Times New Roman" pitchFamily="18" charset="0"/>
              <a:cs typeface="Times New Roman" pitchFamily="18" charset="0"/>
            </a:endParaRPr>
          </a:p>
          <a:p>
            <a:pPr indent="0" marL="0">
              <a:buNone/>
            </a:pP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O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f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f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ers a convenient solution by allowing users to log transactions, monitor budgets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s</a:t>
            </a:r>
            <a:endParaRPr dirty="0" sz="1400" lang="en-IN">
              <a:latin typeface="Times New Roman" pitchFamily="18" charset="0"/>
              <a:cs typeface="Times New Roman" pitchFamily="18" charset="0"/>
            </a:endParaRPr>
          </a:p>
          <a:p>
            <a:pPr indent="0" marL="0">
              <a:buNone/>
            </a:pP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T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o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t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rack the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financial progress</a:t>
            </a:r>
            <a:endParaRPr dirty="0" sz="1400" lang="en-IN">
              <a:latin typeface="Times New Roman" pitchFamily="18" charset="0"/>
              <a:cs typeface="Times New Roman" pitchFamily="18" charset="0"/>
            </a:endParaRPr>
          </a:p>
          <a:p>
            <a:pPr indent="0" marL="0">
              <a:buNone/>
            </a:pP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D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e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s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i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g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ned for individuals who seek to take control of their finances using a digital tool that is easy to use and accessible.</a:t>
            </a:r>
            <a:endParaRPr dirty="0" sz="1400" lang="en-IN">
              <a:latin typeface="Times New Roman" pitchFamily="18" charset="0"/>
              <a:cs typeface="Times New Roman" pitchFamily="18" charset="0"/>
            </a:endParaRPr>
          </a:p>
          <a:p>
            <a:endParaRPr altLang="en-US" dirty="0" lang="zh-CN"/>
          </a:p>
        </p:txBody>
      </p:sp>
      <p:sp>
        <p:nvSpPr>
          <p:cNvPr id="1048593" name=""/>
          <p:cNvSpPr txBox="1"/>
          <p:nvPr/>
        </p:nvSpPr>
        <p:spPr>
          <a:xfrm>
            <a:off x="2572000" y="2362200"/>
            <a:ext cx="4000000" cy="447040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/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Title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75000"/>
            </a:schemeClr>
          </a:solidFill>
        </p:spPr>
        <p:txBody>
          <a:bodyPr>
            <a:normAutofit/>
          </a:bodyPr>
          <a:p>
            <a:pPr algn="ctr"/>
            <a:r>
              <a:rPr b="1" dirty="0" lang="en-IN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Python Programming  - Concepts Used</a:t>
            </a:r>
            <a:endParaRPr b="1" dirty="0" sz="4000" lang="en-IN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59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33600" y="4767263"/>
            <a:ext cx="4416552" cy="376237"/>
          </a:xfrm>
        </p:spPr>
        <p:txBody>
          <a:bodyPr/>
          <a:p>
            <a:r>
              <a:rPr dirty="0" sz="1200" lang="en-US">
                <a:latin typeface="Times New Roman" pitchFamily="18" charset="0"/>
                <a:cs typeface="Times New Roman" pitchFamily="18" charset="0"/>
              </a:rPr>
              <a:t>EGB1122 – PYTHON PROGRAMMING –PROJECT REVIEW 1</a:t>
            </a:r>
          </a:p>
        </p:txBody>
      </p:sp>
      <p:sp>
        <p:nvSpPr>
          <p:cNvPr id="104859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E14ABD8-B1EB-4C07-9937-C8C4E38BDF00}" type="slidenum">
              <a:rPr altLang="en-US" lang="en-US" smtClean="0"/>
              <a:t>6</a:t>
            </a:fld>
            <a:endParaRPr altLang="en-US" lang="en-US"/>
          </a:p>
        </p:txBody>
      </p:sp>
      <p:sp>
        <p:nvSpPr>
          <p:cNvPr id="1048597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p>
            <a:pPr indent="0" marL="0">
              <a:buNone/>
            </a:pPr>
            <a:endParaRPr dirty="0" lang="en-IN">
              <a:latin typeface="Times New Roman" pitchFamily="18" charset="0"/>
              <a:cs typeface="Times New Roman" pitchFamily="18" charset="0"/>
            </a:endParaRPr>
          </a:p>
          <a:p>
            <a:pPr indent="0" marL="0">
              <a:buNone/>
            </a:pP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Variables and Data Types</a:t>
            </a:r>
            <a:endParaRPr dirty="0" sz="1400" lang="en-IN">
              <a:latin typeface="Times New Roman" pitchFamily="18" charset="0"/>
              <a:cs typeface="Times New Roman" pitchFamily="18" charset="0"/>
            </a:endParaRPr>
          </a:p>
          <a:p>
            <a:pPr indent="0" marL="0">
              <a:buNone/>
            </a:pP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Control Flow (Conditions and Loops)</a:t>
            </a:r>
            <a:endParaRPr dirty="0" sz="1400" lang="en-IN">
              <a:latin typeface="Times New Roman" pitchFamily="18" charset="0"/>
              <a:cs typeface="Times New Roman" pitchFamily="18" charset="0"/>
            </a:endParaRPr>
          </a:p>
          <a:p>
            <a:pPr indent="0" marL="0">
              <a:buNone/>
            </a:pP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Functions</a:t>
            </a:r>
            <a:endParaRPr dirty="0" sz="1400" lang="en-IN">
              <a:latin typeface="Times New Roman" pitchFamily="18" charset="0"/>
              <a:cs typeface="Times New Roman" pitchFamily="18" charset="0"/>
            </a:endParaRPr>
          </a:p>
          <a:p>
            <a:pPr indent="0" marL="0">
              <a:buNone/>
            </a:pP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Data Structures (Lists and Dictionaries)</a:t>
            </a:r>
            <a:endParaRPr dirty="0" sz="1400" lang="en-IN">
              <a:latin typeface="Times New Roman" pitchFamily="18" charset="0"/>
              <a:cs typeface="Times New Roman" pitchFamily="18" charset="0"/>
            </a:endParaRPr>
          </a:p>
          <a:p>
            <a:pPr indent="0" marL="0">
              <a:buNone/>
            </a:pP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File Handling</a:t>
            </a:r>
            <a:endParaRPr dirty="0" sz="1400" lang="en-IN">
              <a:latin typeface="Times New Roman" pitchFamily="18" charset="0"/>
              <a:cs typeface="Times New Roman" pitchFamily="18" charset="0"/>
            </a:endParaRPr>
          </a:p>
          <a:p>
            <a:pPr indent="0" marL="0">
              <a:buNone/>
            </a:pP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Object-Oriented Programming (OOP)</a:t>
            </a:r>
            <a:endParaRPr dirty="0" sz="1400" lang="en-IN">
              <a:latin typeface="Times New Roman" pitchFamily="18" charset="0"/>
              <a:cs typeface="Times New Roman" pitchFamily="18" charset="0"/>
            </a:endParaRPr>
          </a:p>
          <a:p>
            <a:endParaRPr dirty="0" lang="en-IN">
              <a:latin typeface="Times New Roman" pitchFamily="18" charset="0"/>
              <a:cs typeface="Times New Roman" pitchFamily="18" charset="0"/>
            </a:endParaRPr>
          </a:p>
          <a:p>
            <a:endParaRPr altLang="en-US" dirty="0" 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742950"/>
          </a:xfrm>
          <a:solidFill>
            <a:schemeClr val="bg2">
              <a:lumMod val="75000"/>
            </a:schemeClr>
          </a:solidFill>
        </p:spPr>
        <p:txBody>
          <a:bodyPr>
            <a:normAutofit/>
          </a:bodyPr>
          <a:p>
            <a:pPr algn="ctr"/>
            <a:r>
              <a:rPr b="1" dirty="0" lang="en-IN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Proposed Architecture</a:t>
            </a:r>
            <a:endParaRPr b="1" dirty="0" sz="4000" lang="en-IN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38400" y="4781550"/>
            <a:ext cx="4264152" cy="228600"/>
          </a:xfrm>
        </p:spPr>
        <p:txBody>
          <a:bodyPr/>
          <a:p>
            <a:r>
              <a:rPr dirty="0" sz="1200" lang="en-US">
                <a:latin typeface="Times New Roman" pitchFamily="18" charset="0"/>
                <a:cs typeface="Times New Roman" pitchFamily="18" charset="0"/>
              </a:rPr>
              <a:t>EGB1122 – PYTHON PROGRAMMING –PROJECT REVIEW 1</a:t>
            </a:r>
          </a:p>
        </p:txBody>
      </p:sp>
      <p:sp>
        <p:nvSpPr>
          <p:cNvPr id="10486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E14ABD8-B1EB-4C07-9937-C8C4E38BDF00}" type="slidenum">
              <a:rPr altLang="en-US" lang="en-US" smtClean="0"/>
              <a:t>7</a:t>
            </a:fld>
            <a:endParaRPr altLang="en-US" lang="en-US"/>
          </a:p>
        </p:txBody>
      </p:sp>
      <p:sp>
        <p:nvSpPr>
          <p:cNvPr id="104861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00150"/>
            <a:ext cx="8229600" cy="3417570"/>
          </a:xfrm>
        </p:spPr>
        <p:txBody>
          <a:bodyPr>
            <a:normAutofit/>
          </a:bodyPr>
          <a:p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User Interface Layer</a:t>
            </a:r>
            <a:endParaRPr dirty="0" sz="1400" lang="en-IN">
              <a:latin typeface="Times New Roman" pitchFamily="18" charset="0"/>
              <a:cs typeface="Times New Roman" pitchFamily="18" charset="0"/>
            </a:endParaRPr>
          </a:p>
          <a:p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Application Logic Layer</a:t>
            </a:r>
            <a:endParaRPr dirty="0" sz="1400" lang="en-IN">
              <a:latin typeface="Times New Roman" pitchFamily="18" charset="0"/>
              <a:cs typeface="Times New Roman" pitchFamily="18" charset="0"/>
            </a:endParaRPr>
          </a:p>
          <a:p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Data Layer</a:t>
            </a:r>
            <a:endParaRPr dirty="0" sz="1400" lang="en-IN">
              <a:latin typeface="Times New Roman" pitchFamily="18" charset="0"/>
              <a:cs typeface="Times New Roman" pitchFamily="18" charset="0"/>
            </a:endParaRPr>
          </a:p>
          <a:p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Authentication Module (Optional)</a:t>
            </a:r>
            <a:endParaRPr dirty="0" sz="1400" lang="en-IN">
              <a:latin typeface="Times New Roman" pitchFamily="18" charset="0"/>
              <a:cs typeface="Times New Roman" pitchFamily="18" charset="0"/>
            </a:endParaRPr>
          </a:p>
          <a:p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Reporting and Visualization Layer</a:t>
            </a:r>
            <a:endParaRPr dirty="0" sz="1400" lang="en-IN">
              <a:latin typeface="Times New Roman" pitchFamily="18" charset="0"/>
              <a:cs typeface="Times New Roman" pitchFamily="18" charset="0"/>
            </a:endParaRPr>
          </a:p>
          <a:p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Utilities Module</a:t>
            </a:r>
            <a:endParaRPr dirty="0" sz="1400" lang="en-IN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Title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75000"/>
            </a:schemeClr>
          </a:solidFill>
        </p:spPr>
        <p:txBody>
          <a:bodyPr>
            <a:normAutofit/>
          </a:bodyPr>
          <a:p>
            <a:pPr algn="ctr"/>
            <a:r>
              <a:rPr b="1" dirty="0" lang="en-IN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Proposed Architecture - Description</a:t>
            </a:r>
            <a:endParaRPr b="1" dirty="0" sz="4000" lang="en-IN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2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67000" y="4767263"/>
            <a:ext cx="4267200" cy="376237"/>
          </a:xfrm>
        </p:spPr>
        <p:txBody>
          <a:bodyPr/>
          <a:p>
            <a:r>
              <a:rPr dirty="0" sz="1200" lang="en-US">
                <a:latin typeface="Times New Roman" pitchFamily="18" charset="0"/>
                <a:cs typeface="Times New Roman" pitchFamily="18" charset="0"/>
              </a:rPr>
              <a:t>EGB1122 – PYTHON PROGRAMMING –PROJECT REVIEW 1</a:t>
            </a:r>
          </a:p>
        </p:txBody>
      </p:sp>
      <p:sp>
        <p:nvSpPr>
          <p:cNvPr id="104862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E14ABD8-B1EB-4C07-9937-C8C4E38BDF00}" type="slidenum">
              <a:rPr altLang="en-US" lang="en-US" smtClean="0"/>
              <a:t>8</a:t>
            </a:fld>
            <a:endParaRPr altLang="en-US" lang="en-US"/>
          </a:p>
        </p:txBody>
      </p:sp>
      <p:sp>
        <p:nvSpPr>
          <p:cNvPr id="104862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00150"/>
            <a:ext cx="8229600" cy="3417570"/>
          </a:xfrm>
        </p:spPr>
        <p:txBody>
          <a:bodyPr>
            <a:normAutofit/>
          </a:bodyPr>
          <a:p>
            <a:r>
              <a:rPr dirty="0" sz="1700" lang="en-US">
                <a:latin typeface="Times New Roman" pitchFamily="18" charset="0"/>
                <a:cs typeface="Times New Roman" pitchFamily="18" charset="0"/>
              </a:rPr>
              <a:t>User Interface Layer</a:t>
            </a:r>
            <a:r>
              <a:rPr dirty="0" sz="1700" lang="en-US">
                <a:latin typeface="Times New Roman" pitchFamily="18" charset="0"/>
                <a:cs typeface="Times New Roman" pitchFamily="18" charset="0"/>
              </a:rPr>
              <a:t>:</a:t>
            </a:r>
            <a:endParaRPr dirty="0" sz="1700" lang="en-IN">
              <a:latin typeface="Times New Roman" pitchFamily="18" charset="0"/>
              <a:cs typeface="Times New Roman" pitchFamily="18" charset="0"/>
            </a:endParaRPr>
          </a:p>
          <a:p>
            <a:r>
              <a:rPr dirty="0" sz="1700" lang="en-US">
                <a:latin typeface="Times New Roman" pitchFamily="18" charset="0"/>
                <a:cs typeface="Times New Roman" pitchFamily="18" charset="0"/>
              </a:rPr>
              <a:t>Provides interaction between the user and the system through command-line or GUI. It collects inputs (like income, expenses) and displays outputs (like balance, reports).</a:t>
            </a:r>
            <a:endParaRPr dirty="0" sz="1700" lang="en-IN">
              <a:latin typeface="Times New Roman" pitchFamily="18" charset="0"/>
              <a:cs typeface="Times New Roman" pitchFamily="18" charset="0"/>
            </a:endParaRPr>
          </a:p>
          <a:p>
            <a:r>
              <a:rPr dirty="0" sz="1700" lang="en-US">
                <a:latin typeface="Times New Roman" pitchFamily="18" charset="0"/>
                <a:cs typeface="Times New Roman" pitchFamily="18" charset="0"/>
              </a:rPr>
              <a:t>Application Logic Layer</a:t>
            </a:r>
            <a:r>
              <a:rPr dirty="0" sz="1700" lang="en-US">
                <a:latin typeface="Times New Roman" pitchFamily="18" charset="0"/>
                <a:cs typeface="Times New Roman" pitchFamily="18" charset="0"/>
              </a:rPr>
              <a:t>:</a:t>
            </a:r>
            <a:endParaRPr dirty="0" sz="1700" lang="en-IN">
              <a:latin typeface="Times New Roman" pitchFamily="18" charset="0"/>
              <a:cs typeface="Times New Roman" pitchFamily="18" charset="0"/>
            </a:endParaRPr>
          </a:p>
          <a:p>
            <a:r>
              <a:rPr dirty="0" sz="1700" lang="en-US">
                <a:latin typeface="Times New Roman" pitchFamily="18" charset="0"/>
                <a:cs typeface="Times New Roman" pitchFamily="18" charset="0"/>
              </a:rPr>
              <a:t>Contains the core functionality of the system. It processes user inputs, performs calculations, manages budgets, and executes business rules.</a:t>
            </a:r>
            <a:endParaRPr dirty="0" sz="1700" lang="en-IN">
              <a:latin typeface="Times New Roman" pitchFamily="18" charset="0"/>
              <a:cs typeface="Times New Roman" pitchFamily="18" charset="0"/>
            </a:endParaRPr>
          </a:p>
          <a:p>
            <a:r>
              <a:rPr dirty="0" sz="1700" lang="en-US">
                <a:latin typeface="Times New Roman" pitchFamily="18" charset="0"/>
                <a:cs typeface="Times New Roman" pitchFamily="18" charset="0"/>
              </a:rPr>
              <a:t>Data Layer</a:t>
            </a:r>
            <a:r>
              <a:rPr dirty="0" sz="1700" lang="en-US">
                <a:latin typeface="Times New Roman" pitchFamily="18" charset="0"/>
                <a:cs typeface="Times New Roman" pitchFamily="18" charset="0"/>
              </a:rPr>
              <a:t>:</a:t>
            </a:r>
            <a:endParaRPr dirty="0" sz="1700" lang="en-IN">
              <a:latin typeface="Times New Roman" pitchFamily="18" charset="0"/>
              <a:cs typeface="Times New Roman" pitchFamily="18" charset="0"/>
            </a:endParaRPr>
          </a:p>
          <a:p>
            <a:r>
              <a:rPr dirty="0" sz="1700" lang="en-US">
                <a:latin typeface="Times New Roman" pitchFamily="18" charset="0"/>
                <a:cs typeface="Times New Roman" pitchFamily="18" charset="0"/>
              </a:rPr>
              <a:t>Responsible for storing and retrieving financial data. It uses files (like CSV or JSON) or a database to persist transactions, income, expenses, and user data.</a:t>
            </a:r>
            <a:endParaRPr dirty="0" sz="1700" lang="en-IN">
              <a:latin typeface="Times New Roman" pitchFamily="18" charset="0"/>
              <a:cs typeface="Times New Roman" pitchFamily="18" charset="0"/>
            </a:endParaRPr>
          </a:p>
          <a:p>
            <a:pPr indent="0" marL="0">
              <a:buNone/>
            </a:pPr>
            <a:endParaRPr dirty="0" lang="en-IN">
              <a:latin typeface="Times New Roman" pitchFamily="18" charset="0"/>
              <a:cs typeface="Times New Roman" pitchFamily="18" charset="0"/>
            </a:endParaRPr>
          </a:p>
          <a:p>
            <a:endParaRPr dirty="0" lang="en-IN">
              <a:latin typeface="Times New Roman" pitchFamily="18" charset="0"/>
              <a:cs typeface="Times New Roman" pitchFamily="18" charset="0"/>
            </a:endParaRPr>
          </a:p>
          <a:p>
            <a:endParaRPr dirty="0" lang="en-IN">
              <a:latin typeface="Times New Roman" pitchFamily="18" charset="0"/>
              <a:cs typeface="Times New Roman" pitchFamily="18" charset="0"/>
            </a:endParaRPr>
          </a:p>
          <a:p>
            <a:endParaRPr altLang="en-US" dirty="0" lang="zh-CN"/>
          </a:p>
          <a:p>
            <a:endParaRPr altLang="en-US" dirty="0" 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Title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75000"/>
            </a:schemeClr>
          </a:solidFill>
        </p:spPr>
        <p:txBody>
          <a:bodyPr/>
          <a:p>
            <a:pPr algn="ctr"/>
            <a:r>
              <a:rPr b="1" dirty="0" lang="en-US" smtClean="0">
                <a:latin typeface="Times New Roman" pitchFamily="18" charset="0"/>
                <a:cs typeface="Times New Roman" pitchFamily="18" charset="0"/>
              </a:rPr>
              <a:t>Proposed Architecture</a:t>
            </a:r>
            <a:endParaRPr b="1" dirty="0" lang="en-IN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3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smtClean="0"/>
              <a:t>CGB1121 – PYTHON PROGRAMMING –PROJECT REVIEW 1</a:t>
            </a:r>
            <a:endParaRPr dirty="0" lang="en-US"/>
          </a:p>
        </p:txBody>
      </p:sp>
      <p:sp>
        <p:nvSpPr>
          <p:cNvPr id="104863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E14ABD8-B1EB-4C07-9937-C8C4E38BDF00}" type="slidenum">
              <a:rPr altLang="en-US" lang="en-US" smtClean="0"/>
              <a:t>9</a:t>
            </a:fld>
            <a:endParaRPr altLang="en-US" lang="en-US"/>
          </a:p>
        </p:txBody>
      </p:sp>
      <p:sp>
        <p:nvSpPr>
          <p:cNvPr id="1048635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211580"/>
            <a:ext cx="8229600" cy="3417570"/>
          </a:xfrm>
        </p:spPr>
        <p:txBody>
          <a:bodyPr>
            <a:normAutofit/>
          </a:bodyPr>
          <a:p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Authentication Module (Optional)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:</a:t>
            </a:r>
            <a:endParaRPr dirty="0" sz="1400" lang="en-IN">
              <a:latin typeface="Times New Roman" pitchFamily="18" charset="0"/>
              <a:cs typeface="Times New Roman" pitchFamily="18" charset="0"/>
            </a:endParaRPr>
          </a:p>
          <a:p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Manages user login and security features. It ensures that only authorized users can access or modify their financial information.</a:t>
            </a:r>
            <a:endParaRPr dirty="0" sz="1400" lang="en-IN">
              <a:latin typeface="Times New Roman" pitchFamily="18" charset="0"/>
              <a:cs typeface="Times New Roman" pitchFamily="18" charset="0"/>
            </a:endParaRPr>
          </a:p>
          <a:p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Reporting and Visualization Layer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:</a:t>
            </a:r>
            <a:endParaRPr dirty="0" sz="1400" lang="en-IN">
              <a:latin typeface="Times New Roman" pitchFamily="18" charset="0"/>
              <a:cs typeface="Times New Roman" pitchFamily="18" charset="0"/>
            </a:endParaRPr>
          </a:p>
          <a:p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Generates summaries, reports, and visual charts (e.g., pie charts, bar graphs) to help users analyze their spending and savings.</a:t>
            </a:r>
            <a:endParaRPr dirty="0" sz="1400" lang="en-IN">
              <a:latin typeface="Times New Roman" pitchFamily="18" charset="0"/>
              <a:cs typeface="Times New Roman" pitchFamily="18" charset="0"/>
            </a:endParaRPr>
          </a:p>
          <a:p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Utilities Module</a:t>
            </a:r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:</a:t>
            </a:r>
            <a:endParaRPr dirty="0" sz="1400" lang="en-IN">
              <a:latin typeface="Times New Roman" pitchFamily="18" charset="0"/>
              <a:cs typeface="Times New Roman" pitchFamily="18" charset="0"/>
            </a:endParaRPr>
          </a:p>
          <a:p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Contains helper functions such as date formatting, data validation, and conversions that support the main application logic.</a:t>
            </a:r>
            <a:endParaRPr dirty="0" sz="1400" lang="en-IN">
              <a:latin typeface="Times New Roman" pitchFamily="18" charset="0"/>
              <a:cs typeface="Times New Roman" pitchFamily="18" charset="0"/>
            </a:endParaRPr>
          </a:p>
          <a:p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This architecture ensures modularity, making the system easier to develop, test, and expand.</a:t>
            </a:r>
            <a:endParaRPr dirty="0" sz="1400" lang="en-IN">
              <a:latin typeface="Times New Roman" pitchFamily="18" charset="0"/>
              <a:cs typeface="Times New Roman" pitchFamily="18" charset="0"/>
            </a:endParaRPr>
          </a:p>
          <a:p>
            <a:endParaRPr dirty="0" lang="en-IN">
              <a:latin typeface="Times New Roman" pitchFamily="18" charset="0"/>
              <a:cs typeface="Times New Roman" pitchFamily="18" charset="0"/>
            </a:endParaRPr>
          </a:p>
          <a:p>
            <a:endParaRPr dirty="0" lang="en-IN"/>
          </a:p>
        </p:txBody>
      </p:sp>
      <p:sp>
        <p:nvSpPr>
          <p:cNvPr id="1048636" name=""/>
          <p:cNvSpPr txBox="1"/>
          <p:nvPr/>
        </p:nvSpPr>
        <p:spPr>
          <a:xfrm>
            <a:off x="2572000" y="2362200"/>
            <a:ext cx="4000000" cy="447040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/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Title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75000"/>
            </a:schemeClr>
          </a:solidFill>
        </p:spPr>
        <p:txBody>
          <a:bodyPr>
            <a:normAutofit/>
          </a:bodyPr>
          <a:p>
            <a:pPr algn="ctr"/>
            <a:r>
              <a:rPr b="1" dirty="0" lang="en-IN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List of Modules</a:t>
            </a:r>
          </a:p>
        </p:txBody>
      </p:sp>
      <p:sp>
        <p:nvSpPr>
          <p:cNvPr id="104863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19400" y="4767263"/>
            <a:ext cx="4343400" cy="376237"/>
          </a:xfrm>
        </p:spPr>
        <p:txBody>
          <a:bodyPr/>
          <a:p>
            <a:r>
              <a:rPr dirty="0" sz="1200" lang="en-US">
                <a:latin typeface="Times New Roman" pitchFamily="18" charset="0"/>
                <a:cs typeface="Times New Roman" pitchFamily="18" charset="0"/>
              </a:rPr>
              <a:t>EGB1122 – PYTHON PROGRAMMING –PROJECT REVIEW 1</a:t>
            </a:r>
          </a:p>
        </p:txBody>
      </p:sp>
      <p:sp>
        <p:nvSpPr>
          <p:cNvPr id="104863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E14ABD8-B1EB-4C07-9937-C8C4E38BDF00}" type="slidenum">
              <a:rPr altLang="en-US" lang="en-US" smtClean="0"/>
              <a:t>10</a:t>
            </a:fld>
            <a:endParaRPr altLang="en-US" lang="en-US"/>
          </a:p>
        </p:txBody>
      </p:sp>
      <p:sp>
        <p:nvSpPr>
          <p:cNvPr id="1048640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76350"/>
            <a:ext cx="8229600" cy="3341370"/>
          </a:xfrm>
        </p:spPr>
        <p:txBody>
          <a:bodyPr>
            <a:normAutofit/>
          </a:bodyPr>
          <a:p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User Management</a:t>
            </a:r>
            <a:endParaRPr dirty="0" sz="1400" lang="en-IN">
              <a:latin typeface="Times New Roman" pitchFamily="18" charset="0"/>
              <a:cs typeface="Times New Roman" pitchFamily="18" charset="0"/>
            </a:endParaRPr>
          </a:p>
          <a:p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Income Tracking</a:t>
            </a:r>
            <a:endParaRPr dirty="0" sz="1400" lang="en-IN">
              <a:latin typeface="Times New Roman" pitchFamily="18" charset="0"/>
              <a:cs typeface="Times New Roman" pitchFamily="18" charset="0"/>
            </a:endParaRPr>
          </a:p>
          <a:p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Expense Tracking</a:t>
            </a:r>
            <a:endParaRPr dirty="0" sz="1400" lang="en-IN">
              <a:latin typeface="Times New Roman" pitchFamily="18" charset="0"/>
              <a:cs typeface="Times New Roman" pitchFamily="18" charset="0"/>
            </a:endParaRPr>
          </a:p>
          <a:p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Budgeting</a:t>
            </a:r>
            <a:endParaRPr dirty="0" sz="1400" lang="en-IN">
              <a:latin typeface="Times New Roman" pitchFamily="18" charset="0"/>
              <a:cs typeface="Times New Roman" pitchFamily="18" charset="0"/>
            </a:endParaRPr>
          </a:p>
          <a:p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Transactions</a:t>
            </a:r>
            <a:endParaRPr dirty="0" sz="1400" lang="en-IN">
              <a:latin typeface="Times New Roman" pitchFamily="18" charset="0"/>
              <a:cs typeface="Times New Roman" pitchFamily="18" charset="0"/>
            </a:endParaRPr>
          </a:p>
          <a:p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Savings &amp; Investments</a:t>
            </a:r>
            <a:endParaRPr dirty="0" sz="1400" lang="en-IN">
              <a:latin typeface="Times New Roman" pitchFamily="18" charset="0"/>
              <a:cs typeface="Times New Roman" pitchFamily="18" charset="0"/>
            </a:endParaRPr>
          </a:p>
          <a:p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Reporting</a:t>
            </a:r>
            <a:endParaRPr dirty="0" sz="1400" lang="en-IN">
              <a:latin typeface="Times New Roman" pitchFamily="18" charset="0"/>
              <a:cs typeface="Times New Roman" pitchFamily="18" charset="0"/>
            </a:endParaRPr>
          </a:p>
          <a:p>
            <a:r>
              <a:rPr dirty="0" sz="1400" lang="en-US">
                <a:latin typeface="Times New Roman" pitchFamily="18" charset="0"/>
                <a:cs typeface="Times New Roman" pitchFamily="18" charset="0"/>
              </a:rPr>
              <a:t>Data Storage</a:t>
            </a:r>
            <a:endParaRPr dirty="0" sz="1400" lang="en-IN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Title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75000"/>
            </a:schemeClr>
          </a:solidFill>
        </p:spPr>
        <p:txBody>
          <a:bodyPr anchor="b" anchorCtr="0" vert="horz">
            <a:normAutofit/>
          </a:bodyPr>
          <a:p>
            <a:pPr algn="ctr"/>
            <a:r>
              <a:rPr b="1" dirty="0" lang="en-IN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Description of Modules</a:t>
            </a:r>
            <a:endParaRPr b="1" dirty="0" lang="en-US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42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667000" y="4767263"/>
            <a:ext cx="4343400" cy="274320"/>
          </a:xfrm>
        </p:spPr>
        <p:txBody>
          <a:bodyPr/>
          <a:p>
            <a:r>
              <a:rPr dirty="0" sz="1200" lang="en-US">
                <a:latin typeface="Times New Roman" pitchFamily="18" charset="0"/>
                <a:cs typeface="Times New Roman" pitchFamily="18" charset="0"/>
              </a:rPr>
              <a:t>EGB1122 – PYTHON PROGRAMMING –PROJECT REVIEW 1</a:t>
            </a:r>
          </a:p>
        </p:txBody>
      </p:sp>
      <p:sp>
        <p:nvSpPr>
          <p:cNvPr id="104864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E14ABD8-B1EB-4C07-9937-C8C4E38BDF00}" type="slidenum">
              <a:rPr altLang="en-US" lang="en-US" smtClean="0"/>
              <a:t>11</a:t>
            </a:fld>
            <a:endParaRPr altLang="en-US" lang="en-US"/>
          </a:p>
        </p:txBody>
      </p:sp>
      <p:sp>
        <p:nvSpPr>
          <p:cNvPr id="1048644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200150"/>
            <a:ext cx="8229600" cy="3188970"/>
          </a:xfrm>
        </p:spPr>
        <p:txBody>
          <a:bodyPr>
            <a:normAutofit/>
          </a:bodyPr>
          <a:p>
            <a:r>
              <a:rPr dirty="0" sz="1500" lang="en-US"/>
              <a:t>User Management: Handles user registration and login.</a:t>
            </a:r>
          </a:p>
          <a:p>
            <a:r>
              <a:rPr dirty="0" sz="1500" lang="en-US"/>
              <a:t>Income Tracking: Records sources of income.</a:t>
            </a:r>
          </a:p>
          <a:p>
            <a:r>
              <a:rPr dirty="0" sz="1500" lang="en-US"/>
              <a:t>Expense Tracking: Logs and categorizes expenses.</a:t>
            </a:r>
          </a:p>
          <a:p>
            <a:r>
              <a:rPr dirty="0" sz="1500" lang="en-US"/>
              <a:t>Budgeting: Sets and monitors spending limits.</a:t>
            </a:r>
          </a:p>
          <a:p>
            <a:r>
              <a:rPr dirty="0" sz="1500" lang="en-US"/>
              <a:t>Transactions: Keeps a history of all financial activities.</a:t>
            </a:r>
          </a:p>
          <a:p>
            <a:r>
              <a:rPr dirty="0" sz="1500" lang="en-US"/>
              <a:t>Savings &amp; Investments: Tracks savings goals and investments.</a:t>
            </a:r>
          </a:p>
          <a:p>
            <a:r>
              <a:rPr dirty="0" sz="1500" lang="en-US"/>
              <a:t>Reporting: Creates financial summaries and reports.</a:t>
            </a:r>
          </a:p>
          <a:p>
            <a:r>
              <a:rPr dirty="0" sz="1500" lang="en-US"/>
              <a:t>Data Storage: Saves and loads user data securely</a:t>
            </a:r>
            <a:r>
              <a:rPr dirty="0" lang="en-US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Title 4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75000"/>
            </a:schemeClr>
          </a:solidFill>
        </p:spPr>
        <p:txBody>
          <a:bodyPr>
            <a:normAutofit/>
          </a:bodyPr>
          <a:p>
            <a:pPr algn="ctr"/>
            <a:r>
              <a:rPr b="1" dirty="0" sz="4400" lang="en-IN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Thank  You</a:t>
            </a:r>
            <a:endParaRPr b="1" dirty="0" sz="4000" lang="en-IN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51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43200" y="4767263"/>
            <a:ext cx="4340352" cy="376237"/>
          </a:xfrm>
        </p:spPr>
        <p:txBody>
          <a:bodyPr/>
          <a:p>
            <a:r>
              <a:rPr dirty="0" sz="1200" lang="en-US">
                <a:latin typeface="Times New Roman" pitchFamily="18" charset="0"/>
                <a:cs typeface="Times New Roman" pitchFamily="18" charset="0"/>
              </a:rPr>
              <a:t>EGB1122 – PYTHON PROGRAMMING –PROJECT REVIEW 1</a:t>
            </a:r>
          </a:p>
        </p:txBody>
      </p:sp>
      <p:sp>
        <p:nvSpPr>
          <p:cNvPr id="104865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CE540F1-D866-4735-9E65-A1952EADD02D}" type="slidenum">
              <a:rPr altLang="en-US" lang="en-US" smtClean="0"/>
              <a:t>12</a:t>
            </a:fld>
            <a:endParaRPr altLang="en-US" dirty="0" lang="en-US"/>
          </a:p>
        </p:txBody>
      </p:sp>
      <p:sp>
        <p:nvSpPr>
          <p:cNvPr id="1048653" name="Title 1"/>
          <p:cNvSpPr txBox="1"/>
          <p:nvPr/>
        </p:nvSpPr>
        <p:spPr>
          <a:xfrm>
            <a:off x="0" y="2099871"/>
            <a:ext cx="9144000" cy="1664258"/>
          </a:xfrm>
          <a:prstGeom prst="rect"/>
          <a:solidFill>
            <a:schemeClr val="accent3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algn="l" defTabSz="342900" eaLnBrk="1" hangingPunct="1" latinLnBrk="0" rtl="0">
              <a:spcBef>
                <a:spcPct val="0"/>
              </a:spcBef>
              <a:buNone/>
              <a:defRPr b="0" cap="all" sz="21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endParaRPr dirty="0" sz="3600" lang="en-IN"/>
          </a:p>
          <a:p>
            <a:pPr algn="ctr"/>
            <a:r>
              <a:rPr b="1" dirty="0" sz="3600" lang="en-IN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Any queries??? 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Origin">
  <a:themeElements>
    <a:clrScheme name="Origin">
      <a:dk1>
        <a:sysClr lastClr="000000" val="windowText"/>
      </a:dk1>
      <a:lt1>
        <a:sysClr lastClr="FFFFFF" val="window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r="5400000" dist="254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r="5400000" dist="43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dir="t" rig="balanced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r="5400000" dist="254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dir="t" rig="sof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algn="tl" flip="x" sx="35000" sy="40000" tx="0" ty="0"/>
        </a:blip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algn="tl" blurRad="50800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r="5400000" dist="25400">
              <a:srgbClr val="000000">
                <a:alpha val="35000"/>
              </a:srgbClr>
            </a:outerShdw>
          </a:effectLst>
        </a:effectStyle>
        <a:effectStyle>
          <a:effectLst>
            <a:outerShdw blurRad="39000" dir="5400000" dist="254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dir="t" rig="threeP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CPH2239</dc:creator>
  <dcterms:created xsi:type="dcterms:W3CDTF">2025-05-20T16:27:09Z</dcterms:created>
  <dcterms:modified xsi:type="dcterms:W3CDTF">2025-06-05T02:23:29Z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316d38690e4b4e15824759918acec6e6</vt:lpwstr>
  </property>
</Properties>
</file>